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rial MT Pro" panose="020B0604020202020204" charset="0"/>
      <p:regular r:id="rId24"/>
    </p:embeddedFont>
    <p:embeddedFont>
      <p:font typeface="Arial MT Pro Bold" panose="020B0604020202020204" charset="0"/>
      <p:regular r:id="rId25"/>
    </p:embeddedFont>
    <p:embeddedFont>
      <p:font typeface="Arial MT Pro Bold Italics" panose="020B0604020202020204" charset="0"/>
      <p:regular r:id="rId26"/>
    </p:embeddedFont>
    <p:embeddedFont>
      <p:font typeface="Arial MT Pro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D4CE9-279A-5935-7D0C-85A7B9CBE349}" v="176" dt="2026-08-20T03:16:17.867"/>
    <p1510:client id="{88D4C123-AD36-C112-B64E-5016EF20721F}" v="8" dt="2026-08-20T00:39:05.582"/>
    <p1510:client id="{947C85E4-2AE5-A857-FA35-835FDACFCD71}" v="58" dt="2026-08-20T00:22:15.6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8.jpe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a:off x="0" y="0"/>
            <a:ext cx="2692924" cy="2031181"/>
          </a:xfrm>
          <a:custGeom>
            <a:avLst/>
            <a:gdLst/>
            <a:ahLst/>
            <a:cxnLst/>
            <a:rect l="l" t="t" r="r" b="b"/>
            <a:pathLst>
              <a:path w="2692924" h="2031181">
                <a:moveTo>
                  <a:pt x="0" y="0"/>
                </a:moveTo>
                <a:lnTo>
                  <a:pt x="2692924" y="0"/>
                </a:lnTo>
                <a:lnTo>
                  <a:pt x="2692924" y="2031181"/>
                </a:lnTo>
                <a:lnTo>
                  <a:pt x="0" y="2031181"/>
                </a:lnTo>
                <a:lnTo>
                  <a:pt x="0" y="0"/>
                </a:lnTo>
                <a:close/>
              </a:path>
            </a:pathLst>
          </a:custGeom>
          <a:blipFill>
            <a:blip r:embed="rId2"/>
            <a:stretch>
              <a:fillRect/>
            </a:stretch>
          </a:blipFill>
        </p:spPr>
      </p:sp>
      <p:sp>
        <p:nvSpPr>
          <p:cNvPr id="3" name="Freeform 3"/>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3">
              <a:alphaModFix amt="24000"/>
            </a:blip>
            <a:stretch>
              <a:fillRect l="-11770" t="-157615" r="-5899" b="-148313"/>
            </a:stretch>
          </a:blipFill>
        </p:spPr>
      </p:sp>
      <p:sp>
        <p:nvSpPr>
          <p:cNvPr id="4" name="Freeform 4"/>
          <p:cNvSpPr/>
          <p:nvPr/>
        </p:nvSpPr>
        <p:spPr>
          <a:xfrm>
            <a:off x="3218922" y="2090085"/>
            <a:ext cx="11850157" cy="6106829"/>
          </a:xfrm>
          <a:custGeom>
            <a:avLst/>
            <a:gdLst/>
            <a:ahLst/>
            <a:cxnLst/>
            <a:rect l="l" t="t" r="r" b="b"/>
            <a:pathLst>
              <a:path w="11850157" h="6106829">
                <a:moveTo>
                  <a:pt x="0" y="0"/>
                </a:moveTo>
                <a:lnTo>
                  <a:pt x="11850156" y="0"/>
                </a:lnTo>
                <a:lnTo>
                  <a:pt x="11850156" y="6106830"/>
                </a:lnTo>
                <a:lnTo>
                  <a:pt x="0" y="6106830"/>
                </a:lnTo>
                <a:lnTo>
                  <a:pt x="0" y="0"/>
                </a:lnTo>
                <a:close/>
              </a:path>
            </a:pathLst>
          </a:custGeom>
          <a:blipFill>
            <a:blip r:embed="rId3">
              <a:alphaModFix amt="24000"/>
            </a:blip>
            <a:stretch>
              <a:fillRect l="-11770" t="-157615" r="-5899" b="-148313"/>
            </a:stretch>
          </a:blipFill>
        </p:spPr>
      </p:sp>
      <p:sp>
        <p:nvSpPr>
          <p:cNvPr id="5" name="Freeform 5"/>
          <p:cNvSpPr/>
          <p:nvPr/>
        </p:nvSpPr>
        <p:spPr>
          <a:xfrm>
            <a:off x="16297803" y="8177865"/>
            <a:ext cx="1908946" cy="2031181"/>
          </a:xfrm>
          <a:custGeom>
            <a:avLst/>
            <a:gdLst/>
            <a:ahLst/>
            <a:cxnLst/>
            <a:rect l="l" t="t" r="r" b="b"/>
            <a:pathLst>
              <a:path w="1908946" h="2031181">
                <a:moveTo>
                  <a:pt x="0" y="0"/>
                </a:moveTo>
                <a:lnTo>
                  <a:pt x="1908947" y="0"/>
                </a:lnTo>
                <a:lnTo>
                  <a:pt x="1908947" y="2031181"/>
                </a:lnTo>
                <a:lnTo>
                  <a:pt x="0" y="2031181"/>
                </a:lnTo>
                <a:lnTo>
                  <a:pt x="0" y="0"/>
                </a:lnTo>
                <a:close/>
              </a:path>
            </a:pathLst>
          </a:custGeom>
          <a:blipFill>
            <a:blip r:embed="rId4"/>
            <a:stretch>
              <a:fillRect/>
            </a:stretch>
          </a:blipFill>
        </p:spPr>
      </p:sp>
      <p:sp>
        <p:nvSpPr>
          <p:cNvPr id="6" name="Freeform 6"/>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3">
              <a:alphaModFix amt="24000"/>
            </a:blip>
            <a:stretch>
              <a:fillRect l="-11770" t="-157615" r="-5899" b="-148313"/>
            </a:stretch>
          </a:blipFill>
        </p:spPr>
      </p:sp>
      <p:sp>
        <p:nvSpPr>
          <p:cNvPr id="7" name="Freeform 7"/>
          <p:cNvSpPr/>
          <p:nvPr/>
        </p:nvSpPr>
        <p:spPr>
          <a:xfrm>
            <a:off x="13109" y="8255819"/>
            <a:ext cx="2031181" cy="2031181"/>
          </a:xfrm>
          <a:custGeom>
            <a:avLst/>
            <a:gdLst/>
            <a:ahLst/>
            <a:cxnLst/>
            <a:rect l="l" t="t" r="r" b="b"/>
            <a:pathLst>
              <a:path w="2031181" h="2031181">
                <a:moveTo>
                  <a:pt x="0" y="0"/>
                </a:moveTo>
                <a:lnTo>
                  <a:pt x="2031182" y="0"/>
                </a:lnTo>
                <a:lnTo>
                  <a:pt x="2031182" y="2031181"/>
                </a:lnTo>
                <a:lnTo>
                  <a:pt x="0" y="2031181"/>
                </a:lnTo>
                <a:lnTo>
                  <a:pt x="0" y="0"/>
                </a:lnTo>
                <a:close/>
              </a:path>
            </a:pathLst>
          </a:custGeom>
          <a:blipFill>
            <a:blip r:embed="rId5"/>
            <a:stretch>
              <a:fillRect/>
            </a:stretch>
          </a:blipFill>
        </p:spPr>
      </p:sp>
      <p:sp>
        <p:nvSpPr>
          <p:cNvPr id="8" name="Freeform 8"/>
          <p:cNvSpPr/>
          <p:nvPr/>
        </p:nvSpPr>
        <p:spPr>
          <a:xfrm>
            <a:off x="14821428" y="589632"/>
            <a:ext cx="3218922" cy="1403450"/>
          </a:xfrm>
          <a:custGeom>
            <a:avLst/>
            <a:gdLst/>
            <a:ahLst/>
            <a:cxnLst/>
            <a:rect l="l" t="t" r="r" b="b"/>
            <a:pathLst>
              <a:path w="3218922" h="1403450">
                <a:moveTo>
                  <a:pt x="0" y="0"/>
                </a:moveTo>
                <a:lnTo>
                  <a:pt x="3218922" y="0"/>
                </a:lnTo>
                <a:lnTo>
                  <a:pt x="3218922" y="1403449"/>
                </a:lnTo>
                <a:lnTo>
                  <a:pt x="0" y="1403449"/>
                </a:lnTo>
                <a:lnTo>
                  <a:pt x="0" y="0"/>
                </a:lnTo>
                <a:close/>
              </a:path>
            </a:pathLst>
          </a:custGeom>
          <a:blipFill>
            <a:blip r:embed="rId6"/>
            <a:stretch>
              <a:fillRect/>
            </a:stretch>
          </a:blipFill>
        </p:spPr>
      </p:sp>
      <p:sp>
        <p:nvSpPr>
          <p:cNvPr id="9" name="TextBox 9"/>
          <p:cNvSpPr txBox="1"/>
          <p:nvPr/>
        </p:nvSpPr>
        <p:spPr>
          <a:xfrm>
            <a:off x="5165408" y="413189"/>
            <a:ext cx="7957184" cy="1145297"/>
          </a:xfrm>
          <a:prstGeom prst="rect">
            <a:avLst/>
          </a:prstGeom>
        </p:spPr>
        <p:txBody>
          <a:bodyPr lIns="0" tIns="0" rIns="0" bIns="0" rtlCol="0" anchor="t">
            <a:spAutoFit/>
          </a:bodyPr>
          <a:lstStyle/>
          <a:p>
            <a:pPr algn="ctr">
              <a:lnSpc>
                <a:spcPts val="2927"/>
              </a:lnSpc>
            </a:pPr>
            <a:r>
              <a:rPr lang="en-US" sz="2091">
                <a:solidFill>
                  <a:srgbClr val="000000"/>
                </a:solidFill>
                <a:latin typeface="Arial MT Pro"/>
                <a:ea typeface="Arial MT Pro"/>
                <a:cs typeface="Arial MT Pro"/>
                <a:sym typeface="Arial MT Pro"/>
              </a:rPr>
              <a:t>INSTITUTO NACIONAL DE PESQUISAS DA AMAZÔNIA - INPA</a:t>
            </a:r>
          </a:p>
          <a:p>
            <a:pPr algn="ctr">
              <a:lnSpc>
                <a:spcPts val="2927"/>
              </a:lnSpc>
              <a:spcBef>
                <a:spcPct val="0"/>
              </a:spcBef>
            </a:pPr>
            <a:r>
              <a:rPr lang="en-US" sz="2091">
                <a:solidFill>
                  <a:srgbClr val="000000"/>
                </a:solidFill>
                <a:latin typeface="Arial MT Pro"/>
                <a:ea typeface="Arial MT Pro"/>
                <a:cs typeface="Arial MT Pro"/>
                <a:sym typeface="Arial MT Pro"/>
              </a:rPr>
              <a:t>PROGRAMA INSTITUCIONAL DE BOLSAS DE INICIAÇÃO CIENTÍFICA - PIBIC</a:t>
            </a:r>
          </a:p>
        </p:txBody>
      </p:sp>
      <p:sp>
        <p:nvSpPr>
          <p:cNvPr id="10" name="TextBox 10"/>
          <p:cNvSpPr txBox="1"/>
          <p:nvPr/>
        </p:nvSpPr>
        <p:spPr>
          <a:xfrm>
            <a:off x="410401" y="3729025"/>
            <a:ext cx="17467198" cy="2638450"/>
          </a:xfrm>
          <a:prstGeom prst="rect">
            <a:avLst/>
          </a:prstGeom>
        </p:spPr>
        <p:txBody>
          <a:bodyPr lIns="0" tIns="0" rIns="0" bIns="0" rtlCol="0" anchor="t">
            <a:spAutoFit/>
          </a:bodyPr>
          <a:lstStyle/>
          <a:p>
            <a:pPr algn="ctr">
              <a:lnSpc>
                <a:spcPts val="6823"/>
              </a:lnSpc>
              <a:spcBef>
                <a:spcPct val="0"/>
              </a:spcBef>
            </a:pPr>
            <a:r>
              <a:rPr lang="en-US" sz="4874" b="1">
                <a:solidFill>
                  <a:srgbClr val="000000"/>
                </a:solidFill>
                <a:latin typeface="Arial MT Pro Bold"/>
                <a:ea typeface="Arial MT Pro Bold"/>
                <a:cs typeface="Arial MT Pro Bold"/>
                <a:sym typeface="Arial MT Pro Bold"/>
              </a:rPr>
              <a:t>Os efeitos das mudanças climáticas no comportamento social e acústico da tartaruga-da-amazônia (</a:t>
            </a:r>
            <a:r>
              <a:rPr lang="en-US" sz="4874" b="1" i="1">
                <a:solidFill>
                  <a:srgbClr val="000000"/>
                </a:solidFill>
                <a:latin typeface="Arial MT Pro Bold Italics"/>
                <a:ea typeface="Arial MT Pro Bold Italics"/>
                <a:cs typeface="Arial MT Pro Bold Italics"/>
                <a:sym typeface="Arial MT Pro Bold Italics"/>
              </a:rPr>
              <a:t>Podocnemis expansa</a:t>
            </a:r>
            <a:r>
              <a:rPr lang="en-US" sz="4874" b="1">
                <a:solidFill>
                  <a:srgbClr val="000000"/>
                </a:solidFill>
                <a:latin typeface="Arial MT Pro Bold"/>
                <a:ea typeface="Arial MT Pro Bold"/>
                <a:cs typeface="Arial MT Pro Bold"/>
                <a:sym typeface="Arial MT Pro Bold"/>
              </a:rPr>
              <a:t>)</a:t>
            </a:r>
          </a:p>
        </p:txBody>
      </p:sp>
      <p:sp>
        <p:nvSpPr>
          <p:cNvPr id="11" name="TextBox 11"/>
          <p:cNvSpPr txBox="1"/>
          <p:nvPr/>
        </p:nvSpPr>
        <p:spPr>
          <a:xfrm>
            <a:off x="8173385" y="8867904"/>
            <a:ext cx="1941230" cy="403506"/>
          </a:xfrm>
          <a:prstGeom prst="rect">
            <a:avLst/>
          </a:prstGeom>
        </p:spPr>
        <p:txBody>
          <a:bodyPr lIns="0" tIns="0" rIns="0" bIns="0" rtlCol="0" anchor="t">
            <a:spAutoFit/>
          </a:bodyPr>
          <a:lstStyle/>
          <a:p>
            <a:pPr algn="ctr">
              <a:lnSpc>
                <a:spcPts val="2927"/>
              </a:lnSpc>
              <a:spcBef>
                <a:spcPct val="0"/>
              </a:spcBef>
            </a:pPr>
            <a:r>
              <a:rPr lang="en-US" sz="2091">
                <a:solidFill>
                  <a:srgbClr val="000000"/>
                </a:solidFill>
                <a:latin typeface="Arial MT Pro"/>
                <a:ea typeface="Arial MT Pro"/>
                <a:cs typeface="Arial MT Pro"/>
                <a:sym typeface="Arial MT Pro"/>
              </a:rPr>
              <a:t>Manaus - 2025</a:t>
            </a:r>
          </a:p>
        </p:txBody>
      </p:sp>
      <p:sp>
        <p:nvSpPr>
          <p:cNvPr id="12" name="TextBox 12"/>
          <p:cNvSpPr txBox="1"/>
          <p:nvPr/>
        </p:nvSpPr>
        <p:spPr>
          <a:xfrm>
            <a:off x="4554262" y="6760540"/>
            <a:ext cx="9179475" cy="1437054"/>
          </a:xfrm>
          <a:prstGeom prst="rect">
            <a:avLst/>
          </a:prstGeom>
        </p:spPr>
        <p:txBody>
          <a:bodyPr lIns="0" tIns="0" rIns="0" bIns="0" rtlCol="0" anchor="t">
            <a:spAutoFit/>
          </a:bodyPr>
          <a:lstStyle/>
          <a:p>
            <a:pPr algn="ctr">
              <a:lnSpc>
                <a:spcPts val="3742"/>
              </a:lnSpc>
            </a:pPr>
            <a:r>
              <a:rPr lang="en-US" sz="2673" b="1">
                <a:solidFill>
                  <a:srgbClr val="000000"/>
                </a:solidFill>
                <a:latin typeface="Arial MT Pro Bold"/>
                <a:ea typeface="Arial MT Pro Bold"/>
                <a:cs typeface="Arial MT Pro Bold"/>
                <a:sym typeface="Arial MT Pro Bold"/>
              </a:rPr>
              <a:t>Discente: Victor Abiel Bragança Soares</a:t>
            </a:r>
          </a:p>
          <a:p>
            <a:pPr algn="ctr">
              <a:lnSpc>
                <a:spcPts val="3742"/>
              </a:lnSpc>
            </a:pPr>
            <a:r>
              <a:rPr lang="en-US" sz="2673" b="1">
                <a:solidFill>
                  <a:srgbClr val="000000"/>
                </a:solidFill>
                <a:latin typeface="Arial MT Pro Bold"/>
                <a:ea typeface="Arial MT Pro Bold"/>
                <a:cs typeface="Arial MT Pro Bold"/>
                <a:sym typeface="Arial MT Pro Bold"/>
              </a:rPr>
              <a:t>Orientador: Gabriel Jorgewich-Cohen</a:t>
            </a:r>
          </a:p>
          <a:p>
            <a:pPr algn="ctr">
              <a:lnSpc>
                <a:spcPts val="3742"/>
              </a:lnSpc>
              <a:spcBef>
                <a:spcPct val="0"/>
              </a:spcBef>
            </a:pPr>
            <a:r>
              <a:rPr lang="en-US" sz="2673" b="1">
                <a:solidFill>
                  <a:srgbClr val="000000"/>
                </a:solidFill>
                <a:latin typeface="Arial MT Pro Bold"/>
                <a:ea typeface="Arial MT Pro Bold"/>
                <a:cs typeface="Arial MT Pro Bold"/>
                <a:sym typeface="Arial MT Pro Bold"/>
              </a:rPr>
              <a:t>Coorientador: Patrick Viana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grpSp>
        <p:nvGrpSpPr>
          <p:cNvPr id="2" name="Group 2"/>
          <p:cNvGrpSpPr/>
          <p:nvPr/>
        </p:nvGrpSpPr>
        <p:grpSpPr>
          <a:xfrm>
            <a:off x="676348" y="2798608"/>
            <a:ext cx="9706955" cy="4662441"/>
            <a:chOff x="0" y="0"/>
            <a:chExt cx="2556564" cy="1227968"/>
          </a:xfrm>
        </p:grpSpPr>
        <p:sp>
          <p:nvSpPr>
            <p:cNvPr id="3" name="Freeform 3"/>
            <p:cNvSpPr/>
            <p:nvPr/>
          </p:nvSpPr>
          <p:spPr>
            <a:xfrm>
              <a:off x="0" y="0"/>
              <a:ext cx="2556564" cy="1227968"/>
            </a:xfrm>
            <a:custGeom>
              <a:avLst/>
              <a:gdLst/>
              <a:ahLst/>
              <a:cxnLst/>
              <a:rect l="l" t="t" r="r" b="b"/>
              <a:pathLst>
                <a:path w="2556564" h="1227968">
                  <a:moveTo>
                    <a:pt x="40676" y="0"/>
                  </a:moveTo>
                  <a:lnTo>
                    <a:pt x="2515888" y="0"/>
                  </a:lnTo>
                  <a:cubicBezTo>
                    <a:pt x="2538353" y="0"/>
                    <a:pt x="2556564" y="18211"/>
                    <a:pt x="2556564" y="40676"/>
                  </a:cubicBezTo>
                  <a:lnTo>
                    <a:pt x="2556564" y="1187292"/>
                  </a:lnTo>
                  <a:cubicBezTo>
                    <a:pt x="2556564" y="1209757"/>
                    <a:pt x="2538353" y="1227968"/>
                    <a:pt x="2515888" y="1227968"/>
                  </a:cubicBezTo>
                  <a:lnTo>
                    <a:pt x="40676" y="1227968"/>
                  </a:lnTo>
                  <a:cubicBezTo>
                    <a:pt x="18211" y="1227968"/>
                    <a:pt x="0" y="1209757"/>
                    <a:pt x="0" y="1187292"/>
                  </a:cubicBezTo>
                  <a:lnTo>
                    <a:pt x="0" y="40676"/>
                  </a:lnTo>
                  <a:cubicBezTo>
                    <a:pt x="0" y="18211"/>
                    <a:pt x="18211" y="0"/>
                    <a:pt x="40676" y="0"/>
                  </a:cubicBezTo>
                  <a:close/>
                </a:path>
              </a:pathLst>
            </a:custGeom>
            <a:solidFill>
              <a:srgbClr val="454545">
                <a:alpha val="49804"/>
              </a:srgbClr>
            </a:solidFill>
          </p:spPr>
        </p:sp>
        <p:sp>
          <p:nvSpPr>
            <p:cNvPr id="4" name="TextBox 4"/>
            <p:cNvSpPr txBox="1"/>
            <p:nvPr/>
          </p:nvSpPr>
          <p:spPr>
            <a:xfrm>
              <a:off x="0" y="-85725"/>
              <a:ext cx="2556564" cy="1313693"/>
            </a:xfrm>
            <a:prstGeom prst="rect">
              <a:avLst/>
            </a:prstGeom>
          </p:spPr>
          <p:txBody>
            <a:bodyPr lIns="50800" tIns="50800" rIns="50800" bIns="50800" rtlCol="0" anchor="ctr"/>
            <a:lstStyle/>
            <a:p>
              <a:pPr algn="ctr">
                <a:lnSpc>
                  <a:spcPts val="2927"/>
                </a:lnSpc>
              </a:pPr>
              <a:endParaRPr/>
            </a:p>
          </p:txBody>
        </p:sp>
      </p:grpSp>
      <p:sp>
        <p:nvSpPr>
          <p:cNvPr id="5" name="TextBox 5"/>
          <p:cNvSpPr txBox="1"/>
          <p:nvPr/>
        </p:nvSpPr>
        <p:spPr>
          <a:xfrm>
            <a:off x="712588" y="5838652"/>
            <a:ext cx="9670715" cy="1465150"/>
          </a:xfrm>
          <a:prstGeom prst="rect">
            <a:avLst/>
          </a:prstGeom>
        </p:spPr>
        <p:txBody>
          <a:bodyPr lIns="0" tIns="0" rIns="0" bIns="0" rtlCol="0" anchor="t">
            <a:spAutoFit/>
          </a:bodyPr>
          <a:lstStyle/>
          <a:p>
            <a:pPr marL="290830" lvl="1" algn="l">
              <a:lnSpc>
                <a:spcPts val="3768"/>
              </a:lnSpc>
            </a:pPr>
            <a:r>
              <a:rPr lang="en-US" sz="2650" dirty="0">
                <a:solidFill>
                  <a:srgbClr val="000000"/>
                </a:solidFill>
                <a:latin typeface="Arial MT Pro"/>
                <a:ea typeface="Arial MT Pro"/>
                <a:cs typeface="Arial MT Pro"/>
                <a:sym typeface="Arial MT Pro"/>
              </a:rPr>
              <a:t>4.Modelos </a:t>
            </a:r>
            <a:r>
              <a:rPr lang="en-US" sz="2650" dirty="0" err="1">
                <a:solidFill>
                  <a:srgbClr val="000000"/>
                </a:solidFill>
                <a:latin typeface="Arial MT Pro"/>
                <a:ea typeface="Arial MT Pro"/>
                <a:cs typeface="Arial MT Pro"/>
                <a:sym typeface="Arial MT Pro"/>
              </a:rPr>
              <a:t>estimam</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taxas</a:t>
            </a:r>
            <a:r>
              <a:rPr lang="en-US" sz="2650" dirty="0">
                <a:solidFill>
                  <a:srgbClr val="000000"/>
                </a:solidFill>
                <a:latin typeface="Arial MT Pro"/>
                <a:ea typeface="Arial MT Pro"/>
                <a:cs typeface="Arial MT Pro"/>
                <a:sym typeface="Arial MT Pro"/>
              </a:rPr>
              <a:t> de </a:t>
            </a:r>
            <a:r>
              <a:rPr lang="en-US" sz="2650" dirty="0" err="1">
                <a:solidFill>
                  <a:srgbClr val="000000"/>
                </a:solidFill>
                <a:latin typeface="Arial MT Pro"/>
                <a:ea typeface="Arial MT Pro"/>
                <a:cs typeface="Arial MT Pro"/>
                <a:sym typeface="Arial MT Pro"/>
              </a:rPr>
              <a:t>extinção</a:t>
            </a:r>
            <a:r>
              <a:rPr lang="en-US" sz="2650" dirty="0">
                <a:solidFill>
                  <a:srgbClr val="000000"/>
                </a:solidFill>
                <a:latin typeface="Arial MT Pro"/>
                <a:ea typeface="Arial MT Pro"/>
                <a:cs typeface="Arial MT Pro"/>
                <a:sym typeface="Arial MT Pro"/>
              </a:rPr>
              <a:t> e </a:t>
            </a:r>
            <a:r>
              <a:rPr lang="en-US" sz="2650" dirty="0" err="1">
                <a:solidFill>
                  <a:srgbClr val="000000"/>
                </a:solidFill>
                <a:latin typeface="Arial MT Pro"/>
                <a:ea typeface="Arial MT Pro"/>
                <a:cs typeface="Arial MT Pro"/>
                <a:sym typeface="Arial MT Pro"/>
              </a:rPr>
              <a:t>mudanças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nas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áreas</a:t>
            </a:r>
            <a:r>
              <a:rPr lang="en-US" sz="2650" dirty="0">
                <a:solidFill>
                  <a:srgbClr val="000000"/>
                </a:solidFill>
                <a:latin typeface="Arial MT Pro"/>
                <a:ea typeface="Arial MT Pro"/>
                <a:cs typeface="Arial MT Pro"/>
                <a:sym typeface="Arial MT Pro"/>
              </a:rPr>
              <a:t> de </a:t>
            </a:r>
            <a:r>
              <a:rPr lang="en-US" sz="2650" dirty="0" err="1">
                <a:solidFill>
                  <a:srgbClr val="000000"/>
                </a:solidFill>
                <a:latin typeface="Arial MT Pro"/>
                <a:ea typeface="Arial MT Pro"/>
                <a:cs typeface="Arial MT Pro"/>
                <a:sym typeface="Arial MT Pro"/>
              </a:rPr>
              <a:t>distribuição</a:t>
            </a:r>
            <a:r>
              <a:rPr lang="en-US" sz="2650" dirty="0">
                <a:solidFill>
                  <a:srgbClr val="000000"/>
                </a:solidFill>
                <a:latin typeface="Arial MT Pro"/>
                <a:ea typeface="Arial MT Pro"/>
                <a:cs typeface="Arial MT Pro"/>
                <a:sym typeface="Arial MT Pro"/>
              </a:rPr>
              <a:t>, mas o </a:t>
            </a:r>
            <a:r>
              <a:rPr lang="en-US" sz="2650" dirty="0" err="1">
                <a:solidFill>
                  <a:srgbClr val="000000"/>
                </a:solidFill>
                <a:latin typeface="Arial MT Pro"/>
                <a:ea typeface="Arial MT Pro"/>
                <a:cs typeface="Arial MT Pro"/>
                <a:sym typeface="Arial MT Pro"/>
              </a:rPr>
              <a:t>impacto</a:t>
            </a:r>
            <a:r>
              <a:rPr lang="en-US" sz="2650" dirty="0">
                <a:solidFill>
                  <a:srgbClr val="000000"/>
                </a:solidFill>
                <a:latin typeface="Arial MT Pro"/>
                <a:ea typeface="Arial MT Pro"/>
                <a:cs typeface="Arial MT Pro"/>
                <a:sym typeface="Arial MT Pro"/>
              </a:rPr>
              <a:t> no </a:t>
            </a:r>
            <a:r>
              <a:rPr lang="en-US" sz="2650" dirty="0" err="1">
                <a:solidFill>
                  <a:srgbClr val="000000"/>
                </a:solidFill>
                <a:latin typeface="Arial MT Pro"/>
                <a:ea typeface="Arial MT Pro"/>
                <a:cs typeface="Arial MT Pro"/>
                <a:sym typeface="Arial MT Pro"/>
              </a:rPr>
              <a:t>comportamento</a:t>
            </a:r>
            <a:r>
              <a:rPr lang="en-US" sz="2650" dirty="0">
                <a:solidFill>
                  <a:srgbClr val="000000"/>
                </a:solidFill>
                <a:latin typeface="Arial MT Pro"/>
                <a:ea typeface="Arial MT Pro"/>
                <a:cs typeface="Arial MT Pro"/>
                <a:sym typeface="Arial MT Pro"/>
              </a:rPr>
              <a:t> animal é </a:t>
            </a:r>
            <a:r>
              <a:rPr lang="en-US" sz="2650" dirty="0" err="1">
                <a:solidFill>
                  <a:srgbClr val="000000"/>
                </a:solidFill>
                <a:latin typeface="Arial MT Pro"/>
                <a:ea typeface="Arial MT Pro"/>
                <a:cs typeface="Arial MT Pro"/>
                <a:sym typeface="Arial MT Pro"/>
              </a:rPr>
              <a:t>pouco</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explorado</a:t>
            </a:r>
            <a:r>
              <a:rPr lang="en-US" sz="2650" dirty="0">
                <a:solidFill>
                  <a:srgbClr val="000000"/>
                </a:solidFill>
                <a:latin typeface="Arial MT Pro"/>
                <a:ea typeface="Arial MT Pro"/>
                <a:cs typeface="Arial MT Pro"/>
                <a:sym typeface="Arial MT Pro"/>
              </a:rPr>
              <a:t>.</a:t>
            </a:r>
            <a:endParaRPr lang="pt-BR" sz="2650" dirty="0"/>
          </a:p>
        </p:txBody>
      </p:sp>
      <p:sp>
        <p:nvSpPr>
          <p:cNvPr id="6" name="Freeform 6"/>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7" name="Freeform 7"/>
          <p:cNvSpPr/>
          <p:nvPr/>
        </p:nvSpPr>
        <p:spPr>
          <a:xfrm>
            <a:off x="10901061" y="2026185"/>
            <a:ext cx="6482099" cy="6234629"/>
          </a:xfrm>
          <a:custGeom>
            <a:avLst/>
            <a:gdLst/>
            <a:ahLst/>
            <a:cxnLst/>
            <a:rect l="l" t="t" r="r" b="b"/>
            <a:pathLst>
              <a:path w="6482099" h="6234629">
                <a:moveTo>
                  <a:pt x="0" y="0"/>
                </a:moveTo>
                <a:lnTo>
                  <a:pt x="6482099" y="0"/>
                </a:lnTo>
                <a:lnTo>
                  <a:pt x="6482099" y="6234630"/>
                </a:lnTo>
                <a:lnTo>
                  <a:pt x="0" y="6234630"/>
                </a:lnTo>
                <a:lnTo>
                  <a:pt x="0" y="0"/>
                </a:lnTo>
                <a:close/>
              </a:path>
            </a:pathLst>
          </a:custGeom>
          <a:blipFill>
            <a:blip r:embed="rId3"/>
            <a:stretch>
              <a:fillRect l="-34968" r="-3161"/>
            </a:stretch>
          </a:blipFill>
          <a:ln w="47625" cap="sq">
            <a:solidFill>
              <a:srgbClr val="000000"/>
            </a:solidFill>
            <a:prstDash val="solid"/>
            <a:miter/>
          </a:ln>
        </p:spPr>
      </p:sp>
      <p:sp>
        <p:nvSpPr>
          <p:cNvPr id="8" name="Freeform 8"/>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9" name="TextBox 9"/>
          <p:cNvSpPr txBox="1"/>
          <p:nvPr/>
        </p:nvSpPr>
        <p:spPr>
          <a:xfrm>
            <a:off x="17383160" y="9031766"/>
            <a:ext cx="563556" cy="632737"/>
          </a:xfrm>
          <a:prstGeom prst="rect">
            <a:avLst/>
          </a:prstGeom>
        </p:spPr>
        <p:txBody>
          <a:bodyPr wrap="square" lIns="0" tIns="0" rIns="0" bIns="0" rtlCol="0" anchor="t">
            <a:spAutoFit/>
          </a:bodyPr>
          <a:lstStyle/>
          <a:p>
            <a:pPr algn="ctr">
              <a:lnSpc>
                <a:spcPts val="5250"/>
              </a:lnSpc>
            </a:pPr>
            <a:r>
              <a:rPr lang="en-US" sz="3500" b="1">
                <a:solidFill>
                  <a:srgbClr val="000000"/>
                </a:solidFill>
                <a:latin typeface="Arial MT Pro Bold"/>
                <a:ea typeface="Arial MT Pro Bold"/>
                <a:cs typeface="Arial MT Pro Bold"/>
                <a:sym typeface="Arial MT Pro Bold"/>
              </a:rPr>
              <a:t>2.</a:t>
            </a:r>
          </a:p>
        </p:txBody>
      </p:sp>
      <p:sp>
        <p:nvSpPr>
          <p:cNvPr id="10" name="TextBox 10"/>
          <p:cNvSpPr txBox="1"/>
          <p:nvPr/>
        </p:nvSpPr>
        <p:spPr>
          <a:xfrm>
            <a:off x="10901061" y="8447405"/>
            <a:ext cx="6482099" cy="810895"/>
          </a:xfrm>
          <a:prstGeom prst="rect">
            <a:avLst/>
          </a:prstGeom>
        </p:spPr>
        <p:txBody>
          <a:bodyPr lIns="0" tIns="0" rIns="0" bIns="0" rtlCol="0" anchor="t">
            <a:spAutoFit/>
          </a:bodyPr>
          <a:lstStyle/>
          <a:p>
            <a:pPr algn="ctr">
              <a:lnSpc>
                <a:spcPts val="3079"/>
              </a:lnSpc>
              <a:spcBef>
                <a:spcPct val="0"/>
              </a:spcBef>
            </a:pPr>
            <a:r>
              <a:rPr lang="en-US" sz="2199" b="1">
                <a:solidFill>
                  <a:srgbClr val="000000"/>
                </a:solidFill>
                <a:latin typeface="Arial MT Pro Bold"/>
                <a:ea typeface="Arial MT Pro Bold"/>
                <a:cs typeface="Arial MT Pro Bold"/>
                <a:sym typeface="Arial MT Pro Bold"/>
              </a:rPr>
              <a:t>Figura 1: </a:t>
            </a:r>
            <a:r>
              <a:rPr lang="en-US" sz="2199">
                <a:solidFill>
                  <a:srgbClr val="000000"/>
                </a:solidFill>
                <a:latin typeface="Arial MT Pro"/>
                <a:ea typeface="Arial MT Pro"/>
                <a:cs typeface="Arial MT Pro"/>
                <a:sym typeface="Arial MT Pro"/>
              </a:rPr>
              <a:t>Queimada na Amazônia. Foto: Christian Braga/Greenpeace.</a:t>
            </a:r>
          </a:p>
        </p:txBody>
      </p:sp>
      <p:sp>
        <p:nvSpPr>
          <p:cNvPr id="11" name="TextBox 11"/>
          <p:cNvSpPr txBox="1"/>
          <p:nvPr/>
        </p:nvSpPr>
        <p:spPr>
          <a:xfrm>
            <a:off x="690119" y="132051"/>
            <a:ext cx="4012284"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Introdução</a:t>
            </a:r>
          </a:p>
        </p:txBody>
      </p:sp>
      <p:sp>
        <p:nvSpPr>
          <p:cNvPr id="12" name="TextBox 12"/>
          <p:cNvSpPr txBox="1"/>
          <p:nvPr/>
        </p:nvSpPr>
        <p:spPr>
          <a:xfrm>
            <a:off x="612306" y="923925"/>
            <a:ext cx="5213232" cy="7556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Arial MT Pro Bold"/>
                <a:ea typeface="Arial MT Pro Bold"/>
                <a:cs typeface="Arial MT Pro Bold"/>
                <a:sym typeface="Arial MT Pro Bold"/>
              </a:rPr>
              <a:t>Mudanças climáticas</a:t>
            </a:r>
          </a:p>
        </p:txBody>
      </p:sp>
      <p:sp>
        <p:nvSpPr>
          <p:cNvPr id="13" name="TextBox 13"/>
          <p:cNvSpPr txBox="1"/>
          <p:nvPr/>
        </p:nvSpPr>
        <p:spPr>
          <a:xfrm>
            <a:off x="712588" y="2871952"/>
            <a:ext cx="9097280" cy="946606"/>
          </a:xfrm>
          <a:prstGeom prst="rect">
            <a:avLst/>
          </a:prstGeom>
        </p:spPr>
        <p:txBody>
          <a:bodyPr lIns="0" tIns="0" rIns="0" bIns="0" rtlCol="0" anchor="t">
            <a:spAutoFit/>
          </a:bodyPr>
          <a:lstStyle/>
          <a:p>
            <a:pPr marL="290830" lvl="1" algn="l">
              <a:lnSpc>
                <a:spcPts val="3768"/>
              </a:lnSpc>
            </a:pPr>
            <a:r>
              <a:rPr lang="en-US" sz="2650" dirty="0">
                <a:solidFill>
                  <a:srgbClr val="000000"/>
                </a:solidFill>
                <a:latin typeface="Arial MT Pro"/>
                <a:ea typeface="Arial MT Pro"/>
                <a:cs typeface="Arial MT Pro"/>
                <a:sym typeface="Arial MT Pro"/>
              </a:rPr>
              <a:t>1.Mudanças </a:t>
            </a:r>
            <a:r>
              <a:rPr lang="en-US" sz="2650" dirty="0" err="1">
                <a:solidFill>
                  <a:srgbClr val="000000"/>
                </a:solidFill>
                <a:latin typeface="Arial MT Pro"/>
                <a:ea typeface="Arial MT Pro"/>
                <a:cs typeface="Arial MT Pro"/>
                <a:sym typeface="Arial MT Pro"/>
              </a:rPr>
              <a:t>climáticas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Alterações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duradouras</a:t>
            </a:r>
            <a:r>
              <a:rPr lang="en-US" sz="2650" dirty="0">
                <a:solidFill>
                  <a:srgbClr val="000000"/>
                </a:solidFill>
                <a:latin typeface="Arial MT Pro"/>
                <a:ea typeface="Arial MT Pro"/>
                <a:cs typeface="Arial MT Pro"/>
                <a:sym typeface="Arial MT Pro"/>
              </a:rPr>
              <a:t> no </a:t>
            </a:r>
            <a:r>
              <a:rPr lang="en-US" sz="2650" dirty="0" err="1">
                <a:solidFill>
                  <a:srgbClr val="000000"/>
                </a:solidFill>
                <a:latin typeface="Arial MT Pro"/>
                <a:ea typeface="Arial MT Pro"/>
                <a:cs typeface="Arial MT Pro"/>
                <a:sym typeface="Arial MT Pro"/>
              </a:rPr>
              <a:t>clima</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que</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afetam</a:t>
            </a:r>
            <a:r>
              <a:rPr lang="en-US" sz="2650" dirty="0">
                <a:solidFill>
                  <a:srgbClr val="000000"/>
                </a:solidFill>
                <a:latin typeface="Arial MT Pro"/>
                <a:ea typeface="Arial MT Pro"/>
                <a:cs typeface="Arial MT Pro"/>
                <a:sym typeface="Arial MT Pro"/>
              </a:rPr>
              <a:t> a </a:t>
            </a:r>
            <a:r>
              <a:rPr lang="en-US" sz="2650" dirty="0" err="1">
                <a:solidFill>
                  <a:srgbClr val="000000"/>
                </a:solidFill>
                <a:latin typeface="Arial MT Pro"/>
                <a:ea typeface="Arial MT Pro"/>
                <a:cs typeface="Arial MT Pro"/>
                <a:sym typeface="Arial MT Pro"/>
              </a:rPr>
              <a:t>atmosfera</a:t>
            </a:r>
            <a:r>
              <a:rPr lang="en-US" sz="2650" dirty="0">
                <a:solidFill>
                  <a:srgbClr val="000000"/>
                </a:solidFill>
                <a:latin typeface="Arial MT Pro"/>
                <a:ea typeface="Arial MT Pro"/>
                <a:cs typeface="Arial MT Pro"/>
                <a:sym typeface="Arial MT Pro"/>
              </a:rPr>
              <a:t> e o </a:t>
            </a:r>
            <a:r>
              <a:rPr lang="en-US" sz="2650" dirty="0" err="1">
                <a:solidFill>
                  <a:srgbClr val="000000"/>
                </a:solidFill>
                <a:latin typeface="Arial MT Pro"/>
                <a:ea typeface="Arial MT Pro"/>
                <a:cs typeface="Arial MT Pro"/>
                <a:sym typeface="Arial MT Pro"/>
              </a:rPr>
              <a:t>uso</a:t>
            </a:r>
            <a:r>
              <a:rPr lang="en-US" sz="2650" dirty="0">
                <a:solidFill>
                  <a:srgbClr val="000000"/>
                </a:solidFill>
                <a:latin typeface="Arial MT Pro"/>
                <a:ea typeface="Arial MT Pro"/>
                <a:cs typeface="Arial MT Pro"/>
                <a:sym typeface="Arial MT Pro"/>
              </a:rPr>
              <a:t> da terra.</a:t>
            </a:r>
            <a:endParaRPr lang="pt-BR" sz="2650" dirty="0"/>
          </a:p>
        </p:txBody>
      </p:sp>
      <p:sp>
        <p:nvSpPr>
          <p:cNvPr id="14" name="Freeform 14"/>
          <p:cNvSpPr/>
          <p:nvPr/>
        </p:nvSpPr>
        <p:spPr>
          <a:xfrm>
            <a:off x="8600688" y="2173626"/>
            <a:ext cx="2418361" cy="1249964"/>
          </a:xfrm>
          <a:custGeom>
            <a:avLst/>
            <a:gdLst/>
            <a:ahLst/>
            <a:cxnLst/>
            <a:rect l="l" t="t" r="r" b="b"/>
            <a:pathLst>
              <a:path w="2418361" h="1249964">
                <a:moveTo>
                  <a:pt x="0" y="0"/>
                </a:moveTo>
                <a:lnTo>
                  <a:pt x="2418361" y="0"/>
                </a:lnTo>
                <a:lnTo>
                  <a:pt x="2418361" y="1249964"/>
                </a:lnTo>
                <a:lnTo>
                  <a:pt x="0" y="1249964"/>
                </a:lnTo>
                <a:lnTo>
                  <a:pt x="0" y="0"/>
                </a:lnTo>
                <a:close/>
              </a:path>
            </a:pathLst>
          </a:custGeom>
          <a:blipFill>
            <a:blip r:embed="rId4"/>
            <a:stretch>
              <a:fillRect l="-11029" t="-147413" b="-134477"/>
            </a:stretch>
          </a:blipFill>
        </p:spPr>
      </p:sp>
      <p:sp>
        <p:nvSpPr>
          <p:cNvPr id="15" name="Freeform 15"/>
          <p:cNvSpPr/>
          <p:nvPr/>
        </p:nvSpPr>
        <p:spPr>
          <a:xfrm flipH="1">
            <a:off x="-180480" y="7010851"/>
            <a:ext cx="2418361" cy="1249964"/>
          </a:xfrm>
          <a:custGeom>
            <a:avLst/>
            <a:gdLst/>
            <a:ahLst/>
            <a:cxnLst/>
            <a:rect l="l" t="t" r="r" b="b"/>
            <a:pathLst>
              <a:path w="2418361" h="1249964">
                <a:moveTo>
                  <a:pt x="2418360" y="0"/>
                </a:moveTo>
                <a:lnTo>
                  <a:pt x="0" y="0"/>
                </a:lnTo>
                <a:lnTo>
                  <a:pt x="0" y="1249964"/>
                </a:lnTo>
                <a:lnTo>
                  <a:pt x="2418360" y="1249964"/>
                </a:lnTo>
                <a:lnTo>
                  <a:pt x="2418360" y="0"/>
                </a:lnTo>
                <a:close/>
              </a:path>
            </a:pathLst>
          </a:custGeom>
          <a:blipFill>
            <a:blip r:embed="rId4"/>
            <a:stretch>
              <a:fillRect l="-11029" t="-147413" b="-134477"/>
            </a:stretch>
          </a:blipFill>
        </p:spPr>
      </p:sp>
      <p:sp>
        <p:nvSpPr>
          <p:cNvPr id="16" name="TextBox 16"/>
          <p:cNvSpPr txBox="1"/>
          <p:nvPr/>
        </p:nvSpPr>
        <p:spPr>
          <a:xfrm>
            <a:off x="676348" y="9026752"/>
            <a:ext cx="7053999" cy="659130"/>
          </a:xfrm>
          <a:prstGeom prst="rect">
            <a:avLst/>
          </a:prstGeom>
        </p:spPr>
        <p:txBody>
          <a:bodyPr lIns="0" tIns="0" rIns="0" bIns="0" rtlCol="0" anchor="t">
            <a:spAutoFit/>
          </a:bodyPr>
          <a:lstStyle/>
          <a:p>
            <a:pPr marL="388620" lvl="1" indent="-194310" algn="l">
              <a:lnSpc>
                <a:spcPts val="2520"/>
              </a:lnSpc>
              <a:buAutoNum type="arabicPeriod"/>
            </a:pPr>
            <a:r>
              <a:rPr lang="en-US" sz="1800">
                <a:solidFill>
                  <a:srgbClr val="000000"/>
                </a:solidFill>
                <a:latin typeface="Arial MT Pro"/>
                <a:ea typeface="Arial MT Pro"/>
                <a:cs typeface="Arial MT Pro"/>
                <a:sym typeface="Arial MT Pro"/>
              </a:rPr>
              <a:t>IPCC, 2023;  2. Nobre et al., 2007; 3. Bottino et al., 2024; Rodrigues-Filho et al., 2024; 4. Lawlor  et al., 2024</a:t>
            </a:r>
          </a:p>
        </p:txBody>
      </p:sp>
      <p:sp>
        <p:nvSpPr>
          <p:cNvPr id="17" name="TextBox 17"/>
          <p:cNvSpPr txBox="1"/>
          <p:nvPr/>
        </p:nvSpPr>
        <p:spPr>
          <a:xfrm>
            <a:off x="694468" y="3860852"/>
            <a:ext cx="9670715" cy="946606"/>
          </a:xfrm>
          <a:prstGeom prst="rect">
            <a:avLst/>
          </a:prstGeom>
        </p:spPr>
        <p:txBody>
          <a:bodyPr lIns="0" tIns="0" rIns="0" bIns="0" rtlCol="0" anchor="t">
            <a:spAutoFit/>
          </a:bodyPr>
          <a:lstStyle/>
          <a:p>
            <a:pPr marL="290830" lvl="1" algn="l">
              <a:lnSpc>
                <a:spcPts val="3768"/>
              </a:lnSpc>
            </a:pPr>
            <a:r>
              <a:rPr lang="en-US" sz="2650" dirty="0">
                <a:solidFill>
                  <a:srgbClr val="000000"/>
                </a:solidFill>
                <a:latin typeface="Arial MT Pro"/>
                <a:ea typeface="Arial MT Pro"/>
                <a:cs typeface="Arial MT Pro"/>
                <a:sym typeface="Arial MT Pro"/>
              </a:rPr>
              <a:t>2.Essas </a:t>
            </a:r>
            <a:r>
              <a:rPr lang="en-US" sz="2650" dirty="0" err="1">
                <a:solidFill>
                  <a:srgbClr val="000000"/>
                </a:solidFill>
                <a:latin typeface="Arial MT Pro"/>
                <a:ea typeface="Arial MT Pro"/>
                <a:cs typeface="Arial MT Pro"/>
                <a:sym typeface="Arial MT Pro"/>
              </a:rPr>
              <a:t>mudanças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podem</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impactar</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significativamente</a:t>
            </a:r>
            <a:r>
              <a:rPr lang="en-US" sz="2650" dirty="0">
                <a:solidFill>
                  <a:srgbClr val="000000"/>
                </a:solidFill>
                <a:latin typeface="Arial MT Pro"/>
                <a:ea typeface="Arial MT Pro"/>
                <a:cs typeface="Arial MT Pro"/>
                <a:sym typeface="Arial MT Pro"/>
              </a:rPr>
              <a:t> a </a:t>
            </a:r>
            <a:r>
              <a:rPr lang="en-US" sz="2650" dirty="0" err="1">
                <a:solidFill>
                  <a:srgbClr val="000000"/>
                </a:solidFill>
                <a:latin typeface="Arial MT Pro"/>
                <a:ea typeface="Arial MT Pro"/>
                <a:cs typeface="Arial MT Pro"/>
                <a:sym typeface="Arial MT Pro"/>
              </a:rPr>
              <a:t>dinâmica</a:t>
            </a:r>
            <a:r>
              <a:rPr lang="en-US" sz="2650" dirty="0">
                <a:solidFill>
                  <a:srgbClr val="000000"/>
                </a:solidFill>
                <a:latin typeface="Arial MT Pro"/>
                <a:ea typeface="Arial MT Pro"/>
                <a:cs typeface="Arial MT Pro"/>
                <a:sym typeface="Arial MT Pro"/>
              </a:rPr>
              <a:t> dos </a:t>
            </a:r>
            <a:r>
              <a:rPr lang="en-US" sz="2650" dirty="0" err="1">
                <a:solidFill>
                  <a:srgbClr val="000000"/>
                </a:solidFill>
                <a:latin typeface="Arial MT Pro"/>
                <a:ea typeface="Arial MT Pro"/>
                <a:cs typeface="Arial MT Pro"/>
                <a:sym typeface="Arial MT Pro"/>
              </a:rPr>
              <a:t>ecossistemas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amazônicos</a:t>
            </a:r>
            <a:r>
              <a:rPr lang="en-US" sz="2650" dirty="0">
                <a:solidFill>
                  <a:srgbClr val="000000"/>
                </a:solidFill>
                <a:latin typeface="Arial MT Pro"/>
                <a:ea typeface="Arial MT Pro"/>
                <a:cs typeface="Arial MT Pro"/>
                <a:sym typeface="Arial MT Pro"/>
              </a:rPr>
              <a:t>.</a:t>
            </a:r>
            <a:endParaRPr lang="pt-BR" sz="2650" dirty="0"/>
          </a:p>
        </p:txBody>
      </p:sp>
      <p:sp>
        <p:nvSpPr>
          <p:cNvPr id="18" name="TextBox 18"/>
          <p:cNvSpPr txBox="1"/>
          <p:nvPr/>
        </p:nvSpPr>
        <p:spPr>
          <a:xfrm>
            <a:off x="712588" y="4849752"/>
            <a:ext cx="9670715" cy="945131"/>
          </a:xfrm>
          <a:prstGeom prst="rect">
            <a:avLst/>
          </a:prstGeom>
        </p:spPr>
        <p:txBody>
          <a:bodyPr lIns="0" tIns="0" rIns="0" bIns="0" rtlCol="0" anchor="t">
            <a:spAutoFit/>
          </a:bodyPr>
          <a:lstStyle/>
          <a:p>
            <a:pPr marL="290830" lvl="1" algn="l">
              <a:lnSpc>
                <a:spcPts val="3768"/>
              </a:lnSpc>
            </a:pPr>
            <a:r>
              <a:rPr lang="en-US" sz="2650" dirty="0">
                <a:solidFill>
                  <a:srgbClr val="000000"/>
                </a:solidFill>
                <a:latin typeface="Arial MT Pro"/>
                <a:ea typeface="Arial MT Pro"/>
                <a:cs typeface="Arial MT Pro"/>
                <a:sym typeface="Arial MT Pro"/>
              </a:rPr>
              <a:t>3.Diante </a:t>
            </a:r>
            <a:r>
              <a:rPr lang="en-US" sz="2650" dirty="0" err="1">
                <a:solidFill>
                  <a:srgbClr val="000000"/>
                </a:solidFill>
                <a:latin typeface="Arial MT Pro"/>
                <a:ea typeface="Arial MT Pro"/>
                <a:cs typeface="Arial MT Pro"/>
                <a:sym typeface="Arial MT Pro"/>
              </a:rPr>
              <a:t>desse</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cenário</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os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efeitos</a:t>
            </a:r>
            <a:r>
              <a:rPr lang="en-US" sz="2650" dirty="0">
                <a:solidFill>
                  <a:srgbClr val="000000"/>
                </a:solidFill>
                <a:latin typeface="Arial MT Pro"/>
                <a:ea typeface="Arial MT Pro"/>
                <a:cs typeface="Arial MT Pro"/>
                <a:sym typeface="Arial MT Pro"/>
              </a:rPr>
              <a:t> das </a:t>
            </a:r>
            <a:r>
              <a:rPr lang="en-US" sz="2650" dirty="0" err="1">
                <a:solidFill>
                  <a:srgbClr val="000000"/>
                </a:solidFill>
                <a:latin typeface="Arial MT Pro"/>
                <a:ea typeface="Arial MT Pro"/>
                <a:cs typeface="Arial MT Pro"/>
                <a:sym typeface="Arial MT Pro"/>
              </a:rPr>
              <a:t>mudanças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climáticas</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na</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biodiversidade</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amazônica</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são</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amplamente</a:t>
            </a:r>
            <a:r>
              <a:rPr lang="en-US" sz="2650" dirty="0">
                <a:solidFill>
                  <a:srgbClr val="000000"/>
                </a:solidFill>
                <a:latin typeface="Arial MT Pro"/>
                <a:ea typeface="Arial MT Pro"/>
                <a:cs typeface="Arial MT Pro"/>
                <a:sym typeface="Arial MT Pro"/>
              </a:rPr>
              <a:t> </a:t>
            </a:r>
            <a:r>
              <a:rPr lang="en-US" sz="2650" dirty="0" err="1">
                <a:solidFill>
                  <a:srgbClr val="000000"/>
                </a:solidFill>
                <a:latin typeface="Arial MT Pro"/>
                <a:ea typeface="Arial MT Pro"/>
                <a:cs typeface="Arial MT Pro"/>
                <a:sym typeface="Arial MT Pro"/>
              </a:rPr>
              <a:t>discutidos</a:t>
            </a:r>
            <a:r>
              <a:rPr lang="en-US" sz="2650" dirty="0">
                <a:solidFill>
                  <a:srgbClr val="000000"/>
                </a:solidFill>
                <a:latin typeface="Arial MT Pro"/>
                <a:ea typeface="Arial MT Pro"/>
                <a:cs typeface="Arial MT Pro"/>
                <a:sym typeface="Arial MT Pro"/>
              </a:rPr>
              <a:t>.</a:t>
            </a:r>
            <a:endParaRPr lang="pt-B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3" name="Freeform 3"/>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grpSp>
        <p:nvGrpSpPr>
          <p:cNvPr id="4" name="Group 4"/>
          <p:cNvGrpSpPr/>
          <p:nvPr/>
        </p:nvGrpSpPr>
        <p:grpSpPr>
          <a:xfrm>
            <a:off x="775595" y="4096022"/>
            <a:ext cx="16230600" cy="2268221"/>
            <a:chOff x="0" y="0"/>
            <a:chExt cx="4274726" cy="597392"/>
          </a:xfrm>
        </p:grpSpPr>
        <p:sp>
          <p:nvSpPr>
            <p:cNvPr id="5" name="Freeform 5"/>
            <p:cNvSpPr/>
            <p:nvPr/>
          </p:nvSpPr>
          <p:spPr>
            <a:xfrm>
              <a:off x="0" y="0"/>
              <a:ext cx="4274726" cy="597392"/>
            </a:xfrm>
            <a:custGeom>
              <a:avLst/>
              <a:gdLst/>
              <a:ahLst/>
              <a:cxnLst/>
              <a:rect l="l" t="t" r="r" b="b"/>
              <a:pathLst>
                <a:path w="4274726" h="597392">
                  <a:moveTo>
                    <a:pt x="24327" y="0"/>
                  </a:moveTo>
                  <a:lnTo>
                    <a:pt x="4250399" y="0"/>
                  </a:lnTo>
                  <a:cubicBezTo>
                    <a:pt x="4263834" y="0"/>
                    <a:pt x="4274726" y="10891"/>
                    <a:pt x="4274726" y="24327"/>
                  </a:cubicBezTo>
                  <a:lnTo>
                    <a:pt x="4274726" y="573065"/>
                  </a:lnTo>
                  <a:cubicBezTo>
                    <a:pt x="4274726" y="579517"/>
                    <a:pt x="4272163" y="585704"/>
                    <a:pt x="4267601" y="590266"/>
                  </a:cubicBezTo>
                  <a:cubicBezTo>
                    <a:pt x="4263039" y="594829"/>
                    <a:pt x="4256851" y="597392"/>
                    <a:pt x="4250399" y="597392"/>
                  </a:cubicBezTo>
                  <a:lnTo>
                    <a:pt x="24327" y="597392"/>
                  </a:lnTo>
                  <a:cubicBezTo>
                    <a:pt x="10891" y="597392"/>
                    <a:pt x="0" y="586500"/>
                    <a:pt x="0" y="573065"/>
                  </a:cubicBezTo>
                  <a:lnTo>
                    <a:pt x="0" y="24327"/>
                  </a:lnTo>
                  <a:cubicBezTo>
                    <a:pt x="0" y="10891"/>
                    <a:pt x="10891" y="0"/>
                    <a:pt x="24327" y="0"/>
                  </a:cubicBezTo>
                  <a:close/>
                </a:path>
              </a:pathLst>
            </a:custGeom>
            <a:solidFill>
              <a:srgbClr val="454545">
                <a:alpha val="49804"/>
              </a:srgbClr>
            </a:solidFill>
          </p:spPr>
        </p:sp>
        <p:sp>
          <p:nvSpPr>
            <p:cNvPr id="6" name="TextBox 6"/>
            <p:cNvSpPr txBox="1"/>
            <p:nvPr/>
          </p:nvSpPr>
          <p:spPr>
            <a:xfrm>
              <a:off x="0" y="-95250"/>
              <a:ext cx="4274726" cy="692642"/>
            </a:xfrm>
            <a:prstGeom prst="rect">
              <a:avLst/>
            </a:prstGeom>
          </p:spPr>
          <p:txBody>
            <a:bodyPr lIns="50800" tIns="50800" rIns="50800" bIns="50800" rtlCol="0" anchor="ctr"/>
            <a:lstStyle/>
            <a:p>
              <a:pPr algn="ctr">
                <a:lnSpc>
                  <a:spcPts val="3499"/>
                </a:lnSpc>
              </a:pPr>
              <a:endParaRPr/>
            </a:p>
          </p:txBody>
        </p:sp>
      </p:grpSp>
      <p:sp>
        <p:nvSpPr>
          <p:cNvPr id="7" name="TextBox 7"/>
          <p:cNvSpPr txBox="1"/>
          <p:nvPr/>
        </p:nvSpPr>
        <p:spPr>
          <a:xfrm>
            <a:off x="775595" y="4229372"/>
            <a:ext cx="16230600"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Estudo da produção, transmissão e recepção de sons pelos organismos vivos.</a:t>
            </a:r>
          </a:p>
        </p:txBody>
      </p:sp>
      <p:sp>
        <p:nvSpPr>
          <p:cNvPr id="8" name="TextBox 8"/>
          <p:cNvSpPr txBox="1"/>
          <p:nvPr/>
        </p:nvSpPr>
        <p:spPr>
          <a:xfrm>
            <a:off x="511342" y="132051"/>
            <a:ext cx="4185329"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Introdução</a:t>
            </a:r>
          </a:p>
        </p:txBody>
      </p:sp>
      <p:sp>
        <p:nvSpPr>
          <p:cNvPr id="9" name="TextBox 9"/>
          <p:cNvSpPr txBox="1"/>
          <p:nvPr/>
        </p:nvSpPr>
        <p:spPr>
          <a:xfrm>
            <a:off x="782052" y="923925"/>
            <a:ext cx="2913763" cy="679097"/>
          </a:xfrm>
          <a:prstGeom prst="rect">
            <a:avLst/>
          </a:prstGeom>
        </p:spPr>
        <p:txBody>
          <a:bodyPr wrap="square" lIns="0" tIns="0" rIns="0" bIns="0" rtlCol="0" anchor="t">
            <a:spAutoFit/>
          </a:bodyPr>
          <a:lstStyle/>
          <a:p>
            <a:pPr algn="ctr">
              <a:lnSpc>
                <a:spcPts val="5599"/>
              </a:lnSpc>
              <a:spcBef>
                <a:spcPct val="0"/>
              </a:spcBef>
            </a:pPr>
            <a:r>
              <a:rPr lang="en-US" sz="3999" b="1">
                <a:solidFill>
                  <a:srgbClr val="000000"/>
                </a:solidFill>
                <a:latin typeface="Arial MT Pro Bold"/>
                <a:ea typeface="Arial MT Pro Bold"/>
                <a:cs typeface="Arial MT Pro Bold"/>
                <a:sym typeface="Arial MT Pro Bold"/>
              </a:rPr>
              <a:t>Bioacústica</a:t>
            </a:r>
          </a:p>
        </p:txBody>
      </p:sp>
      <p:sp>
        <p:nvSpPr>
          <p:cNvPr id="10" name="TextBox 10"/>
          <p:cNvSpPr txBox="1"/>
          <p:nvPr/>
        </p:nvSpPr>
        <p:spPr>
          <a:xfrm>
            <a:off x="17259300" y="9115425"/>
            <a:ext cx="587785"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3.</a:t>
            </a:r>
          </a:p>
        </p:txBody>
      </p:sp>
      <p:sp>
        <p:nvSpPr>
          <p:cNvPr id="11" name="TextBox 11"/>
          <p:cNvSpPr txBox="1"/>
          <p:nvPr/>
        </p:nvSpPr>
        <p:spPr>
          <a:xfrm>
            <a:off x="775595" y="5038725"/>
            <a:ext cx="16230600" cy="98894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Ferramenta promissora para investigar respostas comportamentais, detectando mudanças no comportamento dos animais.</a:t>
            </a:r>
          </a:p>
        </p:txBody>
      </p:sp>
      <p:sp>
        <p:nvSpPr>
          <p:cNvPr id="12" name="TextBox 12"/>
          <p:cNvSpPr txBox="1"/>
          <p:nvPr/>
        </p:nvSpPr>
        <p:spPr>
          <a:xfrm>
            <a:off x="-5068882" y="9014778"/>
            <a:ext cx="14359963" cy="34480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Arial MT Pro"/>
                <a:ea typeface="Arial MT Pro"/>
                <a:cs typeface="Arial MT Pro"/>
                <a:sym typeface="Arial MT Pro"/>
              </a:rPr>
              <a:t> Oestreich  et al., 2024</a:t>
            </a:r>
          </a:p>
        </p:txBody>
      </p:sp>
      <p:sp>
        <p:nvSpPr>
          <p:cNvPr id="13" name="Freeform 13"/>
          <p:cNvSpPr/>
          <p:nvPr/>
        </p:nvSpPr>
        <p:spPr>
          <a:xfrm>
            <a:off x="16050120" y="3423590"/>
            <a:ext cx="2418361" cy="1249964"/>
          </a:xfrm>
          <a:custGeom>
            <a:avLst/>
            <a:gdLst/>
            <a:ahLst/>
            <a:cxnLst/>
            <a:rect l="l" t="t" r="r" b="b"/>
            <a:pathLst>
              <a:path w="2418361" h="1249964">
                <a:moveTo>
                  <a:pt x="0" y="0"/>
                </a:moveTo>
                <a:lnTo>
                  <a:pt x="2418360" y="0"/>
                </a:lnTo>
                <a:lnTo>
                  <a:pt x="2418360" y="1249964"/>
                </a:lnTo>
                <a:lnTo>
                  <a:pt x="0" y="1249964"/>
                </a:lnTo>
                <a:lnTo>
                  <a:pt x="0" y="0"/>
                </a:lnTo>
                <a:close/>
              </a:path>
            </a:pathLst>
          </a:custGeom>
          <a:blipFill>
            <a:blip r:embed="rId3"/>
            <a:stretch>
              <a:fillRect l="-11029" t="-147413" b="-134477"/>
            </a:stretch>
          </a:blipFill>
        </p:spPr>
      </p:sp>
      <p:sp>
        <p:nvSpPr>
          <p:cNvPr id="14" name="Freeform 14"/>
          <p:cNvSpPr/>
          <p:nvPr/>
        </p:nvSpPr>
        <p:spPr>
          <a:xfrm flipH="1">
            <a:off x="-180480" y="5652629"/>
            <a:ext cx="2418361" cy="1249964"/>
          </a:xfrm>
          <a:custGeom>
            <a:avLst/>
            <a:gdLst/>
            <a:ahLst/>
            <a:cxnLst/>
            <a:rect l="l" t="t" r="r" b="b"/>
            <a:pathLst>
              <a:path w="2418361" h="1249964">
                <a:moveTo>
                  <a:pt x="2418360" y="0"/>
                </a:moveTo>
                <a:lnTo>
                  <a:pt x="0" y="0"/>
                </a:lnTo>
                <a:lnTo>
                  <a:pt x="0" y="1249963"/>
                </a:lnTo>
                <a:lnTo>
                  <a:pt x="2418360" y="1249963"/>
                </a:lnTo>
                <a:lnTo>
                  <a:pt x="2418360" y="0"/>
                </a:lnTo>
                <a:close/>
              </a:path>
            </a:pathLst>
          </a:custGeom>
          <a:blipFill>
            <a:blip r:embed="rId3"/>
            <a:stretch>
              <a:fillRect l="-11029" t="-147413" b="-134477"/>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3" name="Freeform 3"/>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grpSp>
        <p:nvGrpSpPr>
          <p:cNvPr id="4" name="Group 4"/>
          <p:cNvGrpSpPr/>
          <p:nvPr/>
        </p:nvGrpSpPr>
        <p:grpSpPr>
          <a:xfrm>
            <a:off x="640108" y="2990667"/>
            <a:ext cx="9706955" cy="4305665"/>
            <a:chOff x="0" y="0"/>
            <a:chExt cx="2556564" cy="1134002"/>
          </a:xfrm>
        </p:grpSpPr>
        <p:sp>
          <p:nvSpPr>
            <p:cNvPr id="5" name="Freeform 5"/>
            <p:cNvSpPr/>
            <p:nvPr/>
          </p:nvSpPr>
          <p:spPr>
            <a:xfrm>
              <a:off x="0" y="0"/>
              <a:ext cx="2556564" cy="1134002"/>
            </a:xfrm>
            <a:custGeom>
              <a:avLst/>
              <a:gdLst/>
              <a:ahLst/>
              <a:cxnLst/>
              <a:rect l="l" t="t" r="r" b="b"/>
              <a:pathLst>
                <a:path w="2556564" h="1134002">
                  <a:moveTo>
                    <a:pt x="40676" y="0"/>
                  </a:moveTo>
                  <a:lnTo>
                    <a:pt x="2515888" y="0"/>
                  </a:lnTo>
                  <a:cubicBezTo>
                    <a:pt x="2538353" y="0"/>
                    <a:pt x="2556564" y="18211"/>
                    <a:pt x="2556564" y="40676"/>
                  </a:cubicBezTo>
                  <a:lnTo>
                    <a:pt x="2556564" y="1093327"/>
                  </a:lnTo>
                  <a:cubicBezTo>
                    <a:pt x="2556564" y="1115791"/>
                    <a:pt x="2538353" y="1134002"/>
                    <a:pt x="2515888" y="1134002"/>
                  </a:cubicBezTo>
                  <a:lnTo>
                    <a:pt x="40676" y="1134002"/>
                  </a:lnTo>
                  <a:cubicBezTo>
                    <a:pt x="18211" y="1134002"/>
                    <a:pt x="0" y="1115791"/>
                    <a:pt x="0" y="1093327"/>
                  </a:cubicBezTo>
                  <a:lnTo>
                    <a:pt x="0" y="40676"/>
                  </a:lnTo>
                  <a:cubicBezTo>
                    <a:pt x="0" y="18211"/>
                    <a:pt x="18211" y="0"/>
                    <a:pt x="40676" y="0"/>
                  </a:cubicBezTo>
                  <a:close/>
                </a:path>
              </a:pathLst>
            </a:custGeom>
            <a:solidFill>
              <a:srgbClr val="454545">
                <a:alpha val="49804"/>
              </a:srgbClr>
            </a:solidFill>
          </p:spPr>
        </p:sp>
        <p:sp>
          <p:nvSpPr>
            <p:cNvPr id="6" name="TextBox 6"/>
            <p:cNvSpPr txBox="1"/>
            <p:nvPr/>
          </p:nvSpPr>
          <p:spPr>
            <a:xfrm>
              <a:off x="0" y="-85725"/>
              <a:ext cx="2556564" cy="1219727"/>
            </a:xfrm>
            <a:prstGeom prst="rect">
              <a:avLst/>
            </a:prstGeom>
          </p:spPr>
          <p:txBody>
            <a:bodyPr lIns="50800" tIns="50800" rIns="50800" bIns="50800" rtlCol="0" anchor="ctr"/>
            <a:lstStyle/>
            <a:p>
              <a:pPr algn="ctr">
                <a:lnSpc>
                  <a:spcPts val="2927"/>
                </a:lnSpc>
              </a:pPr>
              <a:endParaRPr/>
            </a:p>
          </p:txBody>
        </p:sp>
      </p:grpSp>
      <p:sp>
        <p:nvSpPr>
          <p:cNvPr id="7" name="TextBox 7"/>
          <p:cNvSpPr txBox="1"/>
          <p:nvPr/>
        </p:nvSpPr>
        <p:spPr>
          <a:xfrm>
            <a:off x="640108" y="3136062"/>
            <a:ext cx="9706955" cy="512699"/>
          </a:xfrm>
          <a:prstGeom prst="rect">
            <a:avLst/>
          </a:prstGeom>
        </p:spPr>
        <p:txBody>
          <a:bodyPr lIns="0" tIns="0" rIns="0" bIns="0" rtlCol="0" anchor="t">
            <a:spAutoFit/>
          </a:bodyPr>
          <a:lstStyle/>
          <a:p>
            <a:pPr marL="580772" lvl="1" indent="-290386" algn="just">
              <a:lnSpc>
                <a:spcPts val="3766"/>
              </a:lnSpc>
              <a:buFont typeface="Arial"/>
              <a:buChar char="•"/>
            </a:pPr>
            <a:r>
              <a:rPr lang="en-US" sz="2690">
                <a:solidFill>
                  <a:srgbClr val="000000"/>
                </a:solidFill>
                <a:latin typeface="Arial MT Pro"/>
                <a:ea typeface="Arial MT Pro"/>
                <a:cs typeface="Arial MT Pro"/>
                <a:sym typeface="Arial MT Pro"/>
              </a:rPr>
              <a:t>Nome popular: Tartaruga-da-amazônia.</a:t>
            </a:r>
          </a:p>
        </p:txBody>
      </p:sp>
      <p:sp>
        <p:nvSpPr>
          <p:cNvPr id="8" name="Freeform 8"/>
          <p:cNvSpPr/>
          <p:nvPr/>
        </p:nvSpPr>
        <p:spPr>
          <a:xfrm>
            <a:off x="10898851" y="1966945"/>
            <a:ext cx="6379859" cy="6208995"/>
          </a:xfrm>
          <a:custGeom>
            <a:avLst/>
            <a:gdLst/>
            <a:ahLst/>
            <a:cxnLst/>
            <a:rect l="l" t="t" r="r" b="b"/>
            <a:pathLst>
              <a:path w="6379859" h="6208995">
                <a:moveTo>
                  <a:pt x="0" y="0"/>
                </a:moveTo>
                <a:lnTo>
                  <a:pt x="6379859" y="0"/>
                </a:lnTo>
                <a:lnTo>
                  <a:pt x="6379859" y="6208996"/>
                </a:lnTo>
                <a:lnTo>
                  <a:pt x="0" y="6208996"/>
                </a:lnTo>
                <a:lnTo>
                  <a:pt x="0" y="0"/>
                </a:lnTo>
                <a:close/>
              </a:path>
            </a:pathLst>
          </a:custGeom>
          <a:blipFill>
            <a:blip r:embed="rId3"/>
            <a:stretch>
              <a:fillRect l="-23037" r="-23037"/>
            </a:stretch>
          </a:blipFill>
          <a:ln w="47625" cap="sq">
            <a:solidFill>
              <a:srgbClr val="000000"/>
            </a:solidFill>
            <a:prstDash val="solid"/>
            <a:miter/>
          </a:ln>
        </p:spPr>
      </p:sp>
      <p:sp>
        <p:nvSpPr>
          <p:cNvPr id="9" name="TextBox 9"/>
          <p:cNvSpPr txBox="1"/>
          <p:nvPr/>
        </p:nvSpPr>
        <p:spPr>
          <a:xfrm>
            <a:off x="630583" y="923925"/>
            <a:ext cx="9442629" cy="7556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Arial MT Pro Bold"/>
                <a:ea typeface="Arial MT Pro Bold"/>
                <a:cs typeface="Arial MT Pro Bold"/>
                <a:sym typeface="Arial MT Pro Bold"/>
              </a:rPr>
              <a:t>Especie modelo: </a:t>
            </a:r>
            <a:r>
              <a:rPr lang="en-US" sz="3999" b="1" i="1">
                <a:solidFill>
                  <a:srgbClr val="000000"/>
                </a:solidFill>
                <a:latin typeface="Arial MT Pro Bold Italics"/>
                <a:ea typeface="Arial MT Pro Bold Italics"/>
                <a:cs typeface="Arial MT Pro Bold Italics"/>
                <a:sym typeface="Arial MT Pro Bold Italics"/>
              </a:rPr>
              <a:t>Podocnemis expansa</a:t>
            </a:r>
          </a:p>
        </p:txBody>
      </p:sp>
      <p:sp>
        <p:nvSpPr>
          <p:cNvPr id="10" name="TextBox 10"/>
          <p:cNvSpPr txBox="1"/>
          <p:nvPr/>
        </p:nvSpPr>
        <p:spPr>
          <a:xfrm>
            <a:off x="640108" y="6389350"/>
            <a:ext cx="9706955"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Repertório vocal já descrito na literatura</a:t>
            </a:r>
          </a:p>
        </p:txBody>
      </p:sp>
      <p:sp>
        <p:nvSpPr>
          <p:cNvPr id="11" name="TextBox 11"/>
          <p:cNvSpPr txBox="1"/>
          <p:nvPr/>
        </p:nvSpPr>
        <p:spPr>
          <a:xfrm>
            <a:off x="603868" y="5695676"/>
            <a:ext cx="9706955"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Capacidade de vocalizar.</a:t>
            </a:r>
          </a:p>
        </p:txBody>
      </p:sp>
      <p:sp>
        <p:nvSpPr>
          <p:cNvPr id="12" name="TextBox 12"/>
          <p:cNvSpPr txBox="1"/>
          <p:nvPr/>
        </p:nvSpPr>
        <p:spPr>
          <a:xfrm>
            <a:off x="10553398" y="8371706"/>
            <a:ext cx="7070765" cy="420370"/>
          </a:xfrm>
          <a:prstGeom prst="rect">
            <a:avLst/>
          </a:prstGeom>
        </p:spPr>
        <p:txBody>
          <a:bodyPr lIns="0" tIns="0" rIns="0" bIns="0" rtlCol="0" anchor="t">
            <a:spAutoFit/>
          </a:bodyPr>
          <a:lstStyle/>
          <a:p>
            <a:pPr algn="ctr">
              <a:lnSpc>
                <a:spcPts val="3080"/>
              </a:lnSpc>
              <a:spcBef>
                <a:spcPct val="0"/>
              </a:spcBef>
            </a:pPr>
            <a:r>
              <a:rPr lang="en-US" sz="2200" b="1">
                <a:solidFill>
                  <a:srgbClr val="000000"/>
                </a:solidFill>
                <a:latin typeface="Arial MT Pro Bold"/>
                <a:ea typeface="Arial MT Pro Bold"/>
                <a:cs typeface="Arial MT Pro Bold"/>
                <a:sym typeface="Arial MT Pro Bold"/>
              </a:rPr>
              <a:t>Figura 2: </a:t>
            </a:r>
            <a:r>
              <a:rPr lang="en-US" sz="2200" i="1">
                <a:solidFill>
                  <a:srgbClr val="000000"/>
                </a:solidFill>
                <a:latin typeface="Arial MT Pro Italics"/>
                <a:ea typeface="Arial MT Pro Italics"/>
                <a:cs typeface="Arial MT Pro Italics"/>
                <a:sym typeface="Arial MT Pro Italics"/>
              </a:rPr>
              <a:t>Podocnemis expansa.</a:t>
            </a:r>
            <a:r>
              <a:rPr lang="en-US" sz="2200">
                <a:solidFill>
                  <a:srgbClr val="000000"/>
                </a:solidFill>
                <a:latin typeface="Arial MT Pro"/>
                <a:ea typeface="Arial MT Pro"/>
                <a:cs typeface="Arial MT Pro"/>
                <a:sym typeface="Arial MT Pro"/>
              </a:rPr>
              <a:t> Foto: Otávio Lino/Cequa</a:t>
            </a:r>
          </a:p>
        </p:txBody>
      </p:sp>
      <p:sp>
        <p:nvSpPr>
          <p:cNvPr id="13" name="TextBox 13"/>
          <p:cNvSpPr txBox="1"/>
          <p:nvPr/>
        </p:nvSpPr>
        <p:spPr>
          <a:xfrm>
            <a:off x="17259300" y="9115425"/>
            <a:ext cx="587785"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4.</a:t>
            </a:r>
          </a:p>
        </p:txBody>
      </p:sp>
      <p:sp>
        <p:nvSpPr>
          <p:cNvPr id="14" name="Freeform 14"/>
          <p:cNvSpPr/>
          <p:nvPr/>
        </p:nvSpPr>
        <p:spPr>
          <a:xfrm flipH="1">
            <a:off x="0" y="6865595"/>
            <a:ext cx="2418361" cy="1249964"/>
          </a:xfrm>
          <a:custGeom>
            <a:avLst/>
            <a:gdLst/>
            <a:ahLst/>
            <a:cxnLst/>
            <a:rect l="l" t="t" r="r" b="b"/>
            <a:pathLst>
              <a:path w="2418361" h="1249964">
                <a:moveTo>
                  <a:pt x="2418361" y="0"/>
                </a:moveTo>
                <a:lnTo>
                  <a:pt x="0" y="0"/>
                </a:lnTo>
                <a:lnTo>
                  <a:pt x="0" y="1249964"/>
                </a:lnTo>
                <a:lnTo>
                  <a:pt x="2418361" y="1249964"/>
                </a:lnTo>
                <a:lnTo>
                  <a:pt x="2418361" y="0"/>
                </a:lnTo>
                <a:close/>
              </a:path>
            </a:pathLst>
          </a:custGeom>
          <a:blipFill>
            <a:blip r:embed="rId4"/>
            <a:stretch>
              <a:fillRect l="-11029" t="-147413" b="-134477"/>
            </a:stretch>
          </a:blipFill>
        </p:spPr>
      </p:sp>
      <p:sp>
        <p:nvSpPr>
          <p:cNvPr id="15" name="Freeform 15"/>
          <p:cNvSpPr/>
          <p:nvPr/>
        </p:nvSpPr>
        <p:spPr>
          <a:xfrm>
            <a:off x="8672685" y="2537112"/>
            <a:ext cx="2418361" cy="1249964"/>
          </a:xfrm>
          <a:custGeom>
            <a:avLst/>
            <a:gdLst/>
            <a:ahLst/>
            <a:cxnLst/>
            <a:rect l="l" t="t" r="r" b="b"/>
            <a:pathLst>
              <a:path w="2418361" h="1249964">
                <a:moveTo>
                  <a:pt x="0" y="0"/>
                </a:moveTo>
                <a:lnTo>
                  <a:pt x="2418361" y="0"/>
                </a:lnTo>
                <a:lnTo>
                  <a:pt x="2418361" y="1249964"/>
                </a:lnTo>
                <a:lnTo>
                  <a:pt x="0" y="1249964"/>
                </a:lnTo>
                <a:lnTo>
                  <a:pt x="0" y="0"/>
                </a:lnTo>
                <a:close/>
              </a:path>
            </a:pathLst>
          </a:custGeom>
          <a:blipFill>
            <a:blip r:embed="rId4"/>
            <a:stretch>
              <a:fillRect l="-11029" t="-147413" b="-134477"/>
            </a:stretch>
          </a:blipFill>
        </p:spPr>
      </p:sp>
      <p:sp>
        <p:nvSpPr>
          <p:cNvPr id="16" name="TextBox 16"/>
          <p:cNvSpPr txBox="1"/>
          <p:nvPr/>
        </p:nvSpPr>
        <p:spPr>
          <a:xfrm>
            <a:off x="648806" y="132051"/>
            <a:ext cx="4163766"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Introdução</a:t>
            </a:r>
          </a:p>
        </p:txBody>
      </p:sp>
      <p:sp>
        <p:nvSpPr>
          <p:cNvPr id="17" name="TextBox 17"/>
          <p:cNvSpPr txBox="1"/>
          <p:nvPr/>
        </p:nvSpPr>
        <p:spPr>
          <a:xfrm>
            <a:off x="-4761621" y="9014778"/>
            <a:ext cx="14359963" cy="34480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Arial MT Pro"/>
                <a:ea typeface="Arial MT Pro"/>
                <a:cs typeface="Arial MT Pro"/>
                <a:sym typeface="Arial MT Pro"/>
              </a:rPr>
              <a:t>Vogt, 2008;  Ferrara, 2012</a:t>
            </a:r>
          </a:p>
        </p:txBody>
      </p:sp>
      <p:sp>
        <p:nvSpPr>
          <p:cNvPr id="18" name="TextBox 18"/>
          <p:cNvSpPr txBox="1"/>
          <p:nvPr/>
        </p:nvSpPr>
        <p:spPr>
          <a:xfrm>
            <a:off x="640108" y="3832078"/>
            <a:ext cx="9706955" cy="988949"/>
          </a:xfrm>
          <a:prstGeom prst="rect">
            <a:avLst/>
          </a:prstGeom>
        </p:spPr>
        <p:txBody>
          <a:bodyPr lIns="0" tIns="0" rIns="0" bIns="0" rtlCol="0" anchor="t">
            <a:spAutoFit/>
          </a:bodyPr>
          <a:lstStyle/>
          <a:p>
            <a:pPr marL="580772" lvl="1" indent="-290386" algn="just">
              <a:lnSpc>
                <a:spcPts val="3766"/>
              </a:lnSpc>
              <a:buFont typeface="Arial"/>
              <a:buChar char="•"/>
            </a:pPr>
            <a:r>
              <a:rPr lang="en-US" sz="2690">
                <a:solidFill>
                  <a:srgbClr val="000000"/>
                </a:solidFill>
                <a:latin typeface="Arial MT Pro"/>
                <a:ea typeface="Arial MT Pro"/>
                <a:cs typeface="Arial MT Pro"/>
                <a:sym typeface="Arial MT Pro"/>
              </a:rPr>
              <a:t>Grande importância ecológica para os ecossistemas amazônicos e hidrografia amazonica</a:t>
            </a:r>
          </a:p>
        </p:txBody>
      </p:sp>
      <p:sp>
        <p:nvSpPr>
          <p:cNvPr id="19" name="TextBox 19"/>
          <p:cNvSpPr txBox="1"/>
          <p:nvPr/>
        </p:nvSpPr>
        <p:spPr>
          <a:xfrm>
            <a:off x="603868" y="5002002"/>
            <a:ext cx="9706955" cy="512699"/>
          </a:xfrm>
          <a:prstGeom prst="rect">
            <a:avLst/>
          </a:prstGeom>
        </p:spPr>
        <p:txBody>
          <a:bodyPr lIns="0" tIns="0" rIns="0" bIns="0" rtlCol="0" anchor="t">
            <a:spAutoFit/>
          </a:bodyPr>
          <a:lstStyle/>
          <a:p>
            <a:pPr marL="580772" lvl="1" indent="-290386" algn="just">
              <a:lnSpc>
                <a:spcPts val="3766"/>
              </a:lnSpc>
              <a:buFont typeface="Arial"/>
              <a:buChar char="•"/>
            </a:pPr>
            <a:r>
              <a:rPr lang="en-US" sz="2690">
                <a:solidFill>
                  <a:srgbClr val="000000"/>
                </a:solidFill>
                <a:latin typeface="Arial MT Pro"/>
                <a:ea typeface="Arial MT Pro"/>
                <a:cs typeface="Arial MT Pro"/>
                <a:sym typeface="Arial MT Pro"/>
              </a:rPr>
              <a:t>Animal social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TextBox 2"/>
          <p:cNvSpPr txBox="1"/>
          <p:nvPr/>
        </p:nvSpPr>
        <p:spPr>
          <a:xfrm>
            <a:off x="17259300" y="9115425"/>
            <a:ext cx="587785"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5.</a:t>
            </a:r>
          </a:p>
        </p:txBody>
      </p:sp>
      <p:grpSp>
        <p:nvGrpSpPr>
          <p:cNvPr id="3" name="Group 3"/>
          <p:cNvGrpSpPr/>
          <p:nvPr/>
        </p:nvGrpSpPr>
        <p:grpSpPr>
          <a:xfrm>
            <a:off x="1028700" y="4009389"/>
            <a:ext cx="16230600" cy="2268221"/>
            <a:chOff x="0" y="0"/>
            <a:chExt cx="4274726" cy="597392"/>
          </a:xfrm>
        </p:grpSpPr>
        <p:sp>
          <p:nvSpPr>
            <p:cNvPr id="4" name="Freeform 4"/>
            <p:cNvSpPr/>
            <p:nvPr/>
          </p:nvSpPr>
          <p:spPr>
            <a:xfrm>
              <a:off x="0" y="0"/>
              <a:ext cx="4274726" cy="597392"/>
            </a:xfrm>
            <a:custGeom>
              <a:avLst/>
              <a:gdLst/>
              <a:ahLst/>
              <a:cxnLst/>
              <a:rect l="l" t="t" r="r" b="b"/>
              <a:pathLst>
                <a:path w="4274726" h="597392">
                  <a:moveTo>
                    <a:pt x="24327" y="0"/>
                  </a:moveTo>
                  <a:lnTo>
                    <a:pt x="4250399" y="0"/>
                  </a:lnTo>
                  <a:cubicBezTo>
                    <a:pt x="4263834" y="0"/>
                    <a:pt x="4274726" y="10891"/>
                    <a:pt x="4274726" y="24327"/>
                  </a:cubicBezTo>
                  <a:lnTo>
                    <a:pt x="4274726" y="573065"/>
                  </a:lnTo>
                  <a:cubicBezTo>
                    <a:pt x="4274726" y="579517"/>
                    <a:pt x="4272163" y="585704"/>
                    <a:pt x="4267601" y="590266"/>
                  </a:cubicBezTo>
                  <a:cubicBezTo>
                    <a:pt x="4263039" y="594829"/>
                    <a:pt x="4256851" y="597392"/>
                    <a:pt x="4250399" y="597392"/>
                  </a:cubicBezTo>
                  <a:lnTo>
                    <a:pt x="24327" y="597392"/>
                  </a:lnTo>
                  <a:cubicBezTo>
                    <a:pt x="10891" y="597392"/>
                    <a:pt x="0" y="586500"/>
                    <a:pt x="0" y="573065"/>
                  </a:cubicBezTo>
                  <a:lnTo>
                    <a:pt x="0" y="24327"/>
                  </a:lnTo>
                  <a:cubicBezTo>
                    <a:pt x="0" y="10891"/>
                    <a:pt x="10891" y="0"/>
                    <a:pt x="24327" y="0"/>
                  </a:cubicBezTo>
                  <a:close/>
                </a:path>
              </a:pathLst>
            </a:custGeom>
            <a:solidFill>
              <a:srgbClr val="454545">
                <a:alpha val="49804"/>
              </a:srgbClr>
            </a:solidFill>
          </p:spPr>
        </p:sp>
        <p:sp>
          <p:nvSpPr>
            <p:cNvPr id="5" name="TextBox 5"/>
            <p:cNvSpPr txBox="1"/>
            <p:nvPr/>
          </p:nvSpPr>
          <p:spPr>
            <a:xfrm>
              <a:off x="0" y="-95250"/>
              <a:ext cx="4274726" cy="692642"/>
            </a:xfrm>
            <a:prstGeom prst="rect">
              <a:avLst/>
            </a:prstGeom>
          </p:spPr>
          <p:txBody>
            <a:bodyPr lIns="50800" tIns="50800" rIns="50800" bIns="50800" rtlCol="0" anchor="ctr"/>
            <a:lstStyle/>
            <a:p>
              <a:pPr algn="ctr">
                <a:lnSpc>
                  <a:spcPts val="3499"/>
                </a:lnSpc>
              </a:pPr>
              <a:endParaRPr/>
            </a:p>
          </p:txBody>
        </p:sp>
      </p:grpSp>
      <p:sp>
        <p:nvSpPr>
          <p:cNvPr id="6" name="Freeform 6"/>
          <p:cNvSpPr/>
          <p:nvPr/>
        </p:nvSpPr>
        <p:spPr>
          <a:xfrm>
            <a:off x="16050120" y="3423590"/>
            <a:ext cx="2418361" cy="1249964"/>
          </a:xfrm>
          <a:custGeom>
            <a:avLst/>
            <a:gdLst/>
            <a:ahLst/>
            <a:cxnLst/>
            <a:rect l="l" t="t" r="r" b="b"/>
            <a:pathLst>
              <a:path w="2418361" h="1249964">
                <a:moveTo>
                  <a:pt x="0" y="0"/>
                </a:moveTo>
                <a:lnTo>
                  <a:pt x="2418360" y="0"/>
                </a:lnTo>
                <a:lnTo>
                  <a:pt x="2418360" y="1249964"/>
                </a:lnTo>
                <a:lnTo>
                  <a:pt x="0" y="1249964"/>
                </a:lnTo>
                <a:lnTo>
                  <a:pt x="0" y="0"/>
                </a:lnTo>
                <a:close/>
              </a:path>
            </a:pathLst>
          </a:custGeom>
          <a:blipFill>
            <a:blip r:embed="rId2"/>
            <a:stretch>
              <a:fillRect l="-11029" t="-147413" b="-134477"/>
            </a:stretch>
          </a:blipFill>
        </p:spPr>
      </p:sp>
      <p:sp>
        <p:nvSpPr>
          <p:cNvPr id="7" name="Freeform 7"/>
          <p:cNvSpPr/>
          <p:nvPr/>
        </p:nvSpPr>
        <p:spPr>
          <a:xfrm flipH="1">
            <a:off x="-180480" y="5652629"/>
            <a:ext cx="2418361" cy="1249964"/>
          </a:xfrm>
          <a:custGeom>
            <a:avLst/>
            <a:gdLst/>
            <a:ahLst/>
            <a:cxnLst/>
            <a:rect l="l" t="t" r="r" b="b"/>
            <a:pathLst>
              <a:path w="2418361" h="1249964">
                <a:moveTo>
                  <a:pt x="2418360" y="0"/>
                </a:moveTo>
                <a:lnTo>
                  <a:pt x="0" y="0"/>
                </a:lnTo>
                <a:lnTo>
                  <a:pt x="0" y="1249963"/>
                </a:lnTo>
                <a:lnTo>
                  <a:pt x="2418360" y="1249963"/>
                </a:lnTo>
                <a:lnTo>
                  <a:pt x="2418360" y="0"/>
                </a:lnTo>
                <a:close/>
              </a:path>
            </a:pathLst>
          </a:custGeom>
          <a:blipFill>
            <a:blip r:embed="rId2"/>
            <a:stretch>
              <a:fillRect l="-11029" t="-147413" b="-134477"/>
            </a:stretch>
          </a:blipFill>
        </p:spPr>
      </p:sp>
      <p:sp>
        <p:nvSpPr>
          <p:cNvPr id="8" name="Freeform 8"/>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3">
              <a:alphaModFix amt="24000"/>
            </a:blip>
            <a:stretch>
              <a:fillRect l="-11770" t="-157615" r="-5899" b="-148313"/>
            </a:stretch>
          </a:blipFill>
        </p:spPr>
      </p:sp>
      <p:sp>
        <p:nvSpPr>
          <p:cNvPr id="9" name="Freeform 9"/>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3">
              <a:alphaModFix amt="24000"/>
            </a:blip>
            <a:stretch>
              <a:fillRect l="-11770" t="-157615" r="-5899" b="-148313"/>
            </a:stretch>
          </a:blipFill>
        </p:spPr>
      </p:sp>
      <p:sp>
        <p:nvSpPr>
          <p:cNvPr id="10" name="TextBox 10"/>
          <p:cNvSpPr txBox="1"/>
          <p:nvPr/>
        </p:nvSpPr>
        <p:spPr>
          <a:xfrm>
            <a:off x="1028700" y="4425950"/>
            <a:ext cx="16230600" cy="12922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Arial MT Pro"/>
                <a:ea typeface="Arial MT Pro"/>
                <a:cs typeface="Arial MT Pro"/>
                <a:sym typeface="Arial MT Pro"/>
              </a:rPr>
              <a:t>Como as mudanças climáticas afetarão o comportamento social dos animais amazônicos? </a:t>
            </a:r>
          </a:p>
        </p:txBody>
      </p:sp>
      <p:sp>
        <p:nvSpPr>
          <p:cNvPr id="11" name="TextBox 11"/>
          <p:cNvSpPr txBox="1"/>
          <p:nvPr/>
        </p:nvSpPr>
        <p:spPr>
          <a:xfrm>
            <a:off x="676614" y="160626"/>
            <a:ext cx="6901911"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Pergunta cientifica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a:off x="3306161" y="1352772"/>
            <a:ext cx="11850157" cy="6106829"/>
          </a:xfrm>
          <a:custGeom>
            <a:avLst/>
            <a:gdLst/>
            <a:ahLst/>
            <a:cxnLst/>
            <a:rect l="l" t="t" r="r" b="b"/>
            <a:pathLst>
              <a:path w="11850157" h="6106829">
                <a:moveTo>
                  <a:pt x="0" y="0"/>
                </a:moveTo>
                <a:lnTo>
                  <a:pt x="11850157" y="0"/>
                </a:lnTo>
                <a:lnTo>
                  <a:pt x="11850157" y="6106830"/>
                </a:lnTo>
                <a:lnTo>
                  <a:pt x="0" y="6106830"/>
                </a:lnTo>
                <a:lnTo>
                  <a:pt x="0" y="0"/>
                </a:lnTo>
                <a:close/>
              </a:path>
            </a:pathLst>
          </a:custGeom>
          <a:blipFill>
            <a:blip r:embed="rId2">
              <a:alphaModFix amt="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Freeform 4"/>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grpSp>
        <p:nvGrpSpPr>
          <p:cNvPr id="5" name="Group 5"/>
          <p:cNvGrpSpPr/>
          <p:nvPr/>
        </p:nvGrpSpPr>
        <p:grpSpPr>
          <a:xfrm>
            <a:off x="951966" y="2355218"/>
            <a:ext cx="16230600" cy="2268221"/>
            <a:chOff x="0" y="0"/>
            <a:chExt cx="4274726" cy="597392"/>
          </a:xfrm>
        </p:grpSpPr>
        <p:sp>
          <p:nvSpPr>
            <p:cNvPr id="6" name="Freeform 6"/>
            <p:cNvSpPr/>
            <p:nvPr/>
          </p:nvSpPr>
          <p:spPr>
            <a:xfrm>
              <a:off x="0" y="0"/>
              <a:ext cx="4274726" cy="597392"/>
            </a:xfrm>
            <a:custGeom>
              <a:avLst/>
              <a:gdLst/>
              <a:ahLst/>
              <a:cxnLst/>
              <a:rect l="l" t="t" r="r" b="b"/>
              <a:pathLst>
                <a:path w="4274726" h="597392">
                  <a:moveTo>
                    <a:pt x="24327" y="0"/>
                  </a:moveTo>
                  <a:lnTo>
                    <a:pt x="4250399" y="0"/>
                  </a:lnTo>
                  <a:cubicBezTo>
                    <a:pt x="4263834" y="0"/>
                    <a:pt x="4274726" y="10891"/>
                    <a:pt x="4274726" y="24327"/>
                  </a:cubicBezTo>
                  <a:lnTo>
                    <a:pt x="4274726" y="573065"/>
                  </a:lnTo>
                  <a:cubicBezTo>
                    <a:pt x="4274726" y="579517"/>
                    <a:pt x="4272163" y="585704"/>
                    <a:pt x="4267601" y="590266"/>
                  </a:cubicBezTo>
                  <a:cubicBezTo>
                    <a:pt x="4263039" y="594829"/>
                    <a:pt x="4256851" y="597392"/>
                    <a:pt x="4250399" y="597392"/>
                  </a:cubicBezTo>
                  <a:lnTo>
                    <a:pt x="24327" y="597392"/>
                  </a:lnTo>
                  <a:cubicBezTo>
                    <a:pt x="10891" y="597392"/>
                    <a:pt x="0" y="586500"/>
                    <a:pt x="0" y="573065"/>
                  </a:cubicBezTo>
                  <a:lnTo>
                    <a:pt x="0" y="24327"/>
                  </a:lnTo>
                  <a:cubicBezTo>
                    <a:pt x="0" y="10891"/>
                    <a:pt x="10891" y="0"/>
                    <a:pt x="24327" y="0"/>
                  </a:cubicBezTo>
                  <a:close/>
                </a:path>
              </a:pathLst>
            </a:custGeom>
            <a:solidFill>
              <a:srgbClr val="454545">
                <a:alpha val="49804"/>
              </a:srgbClr>
            </a:solidFill>
          </p:spPr>
        </p:sp>
        <p:sp>
          <p:nvSpPr>
            <p:cNvPr id="7" name="TextBox 7"/>
            <p:cNvSpPr txBox="1"/>
            <p:nvPr/>
          </p:nvSpPr>
          <p:spPr>
            <a:xfrm>
              <a:off x="0" y="-95250"/>
              <a:ext cx="4274726" cy="692642"/>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679378" y="141576"/>
            <a:ext cx="3651639"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Objetivos</a:t>
            </a:r>
          </a:p>
        </p:txBody>
      </p:sp>
      <p:sp>
        <p:nvSpPr>
          <p:cNvPr id="9" name="TextBox 9"/>
          <p:cNvSpPr txBox="1"/>
          <p:nvPr/>
        </p:nvSpPr>
        <p:spPr>
          <a:xfrm>
            <a:off x="951966" y="1599568"/>
            <a:ext cx="1613486" cy="7556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Arial MT Pro Bold"/>
                <a:ea typeface="Arial MT Pro Bold"/>
                <a:cs typeface="Arial MT Pro Bold"/>
                <a:sym typeface="Arial MT Pro Bold"/>
              </a:rPr>
              <a:t>Gerais</a:t>
            </a:r>
          </a:p>
        </p:txBody>
      </p:sp>
      <p:sp>
        <p:nvSpPr>
          <p:cNvPr id="10" name="TextBox 10"/>
          <p:cNvSpPr txBox="1"/>
          <p:nvPr/>
        </p:nvSpPr>
        <p:spPr>
          <a:xfrm>
            <a:off x="17259300" y="9115425"/>
            <a:ext cx="587785"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6.</a:t>
            </a:r>
          </a:p>
        </p:txBody>
      </p:sp>
      <p:sp>
        <p:nvSpPr>
          <p:cNvPr id="11" name="TextBox 11"/>
          <p:cNvSpPr txBox="1"/>
          <p:nvPr/>
        </p:nvSpPr>
        <p:spPr>
          <a:xfrm>
            <a:off x="951966" y="2771778"/>
            <a:ext cx="16230600" cy="12922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Arial MT Pro"/>
                <a:ea typeface="Arial MT Pro"/>
                <a:cs typeface="Arial MT Pro"/>
                <a:sym typeface="Arial MT Pro"/>
              </a:rPr>
              <a:t>Compreender se as mudanças climáticas impactarão o comportamento da fauna amazônica.</a:t>
            </a:r>
          </a:p>
        </p:txBody>
      </p:sp>
      <p:sp>
        <p:nvSpPr>
          <p:cNvPr id="12" name="Freeform 12"/>
          <p:cNvSpPr/>
          <p:nvPr/>
        </p:nvSpPr>
        <p:spPr>
          <a:xfrm>
            <a:off x="15567120" y="1847580"/>
            <a:ext cx="2418361" cy="1249964"/>
          </a:xfrm>
          <a:custGeom>
            <a:avLst/>
            <a:gdLst/>
            <a:ahLst/>
            <a:cxnLst/>
            <a:rect l="l" t="t" r="r" b="b"/>
            <a:pathLst>
              <a:path w="2418361" h="1249964">
                <a:moveTo>
                  <a:pt x="0" y="0"/>
                </a:moveTo>
                <a:lnTo>
                  <a:pt x="2418361" y="0"/>
                </a:lnTo>
                <a:lnTo>
                  <a:pt x="2418361" y="1249963"/>
                </a:lnTo>
                <a:lnTo>
                  <a:pt x="0" y="1249963"/>
                </a:lnTo>
                <a:lnTo>
                  <a:pt x="0" y="0"/>
                </a:lnTo>
                <a:close/>
              </a:path>
            </a:pathLst>
          </a:custGeom>
          <a:blipFill>
            <a:blip r:embed="rId3"/>
            <a:stretch>
              <a:fillRect l="-11029" t="-147413" b="-134477"/>
            </a:stretch>
          </a:blipFill>
        </p:spPr>
      </p:sp>
      <p:sp>
        <p:nvSpPr>
          <p:cNvPr id="13" name="Freeform 13"/>
          <p:cNvSpPr/>
          <p:nvPr/>
        </p:nvSpPr>
        <p:spPr>
          <a:xfrm flipH="1">
            <a:off x="200207" y="3834864"/>
            <a:ext cx="2418361" cy="1249964"/>
          </a:xfrm>
          <a:custGeom>
            <a:avLst/>
            <a:gdLst/>
            <a:ahLst/>
            <a:cxnLst/>
            <a:rect l="l" t="t" r="r" b="b"/>
            <a:pathLst>
              <a:path w="2418361" h="1249964">
                <a:moveTo>
                  <a:pt x="2418361" y="0"/>
                </a:moveTo>
                <a:lnTo>
                  <a:pt x="0" y="0"/>
                </a:lnTo>
                <a:lnTo>
                  <a:pt x="0" y="1249964"/>
                </a:lnTo>
                <a:lnTo>
                  <a:pt x="2418361" y="1249964"/>
                </a:lnTo>
                <a:lnTo>
                  <a:pt x="2418361" y="0"/>
                </a:lnTo>
                <a:close/>
              </a:path>
            </a:pathLst>
          </a:custGeom>
          <a:blipFill>
            <a:blip r:embed="rId3"/>
            <a:stretch>
              <a:fillRect l="-11029" t="-147413" b="-134477"/>
            </a:stretch>
          </a:blipFill>
        </p:spPr>
      </p:sp>
      <p:sp>
        <p:nvSpPr>
          <p:cNvPr id="14" name="Freeform 14"/>
          <p:cNvSpPr/>
          <p:nvPr/>
        </p:nvSpPr>
        <p:spPr>
          <a:xfrm>
            <a:off x="3167766" y="5089841"/>
            <a:ext cx="11850157" cy="6106829"/>
          </a:xfrm>
          <a:custGeom>
            <a:avLst/>
            <a:gdLst/>
            <a:ahLst/>
            <a:cxnLst/>
            <a:rect l="l" t="t" r="r" b="b"/>
            <a:pathLst>
              <a:path w="11850157" h="6106829">
                <a:moveTo>
                  <a:pt x="0" y="0"/>
                </a:moveTo>
                <a:lnTo>
                  <a:pt x="11850156" y="0"/>
                </a:lnTo>
                <a:lnTo>
                  <a:pt x="11850156" y="6106829"/>
                </a:lnTo>
                <a:lnTo>
                  <a:pt x="0" y="6106829"/>
                </a:lnTo>
                <a:lnTo>
                  <a:pt x="0" y="0"/>
                </a:lnTo>
                <a:close/>
              </a:path>
            </a:pathLst>
          </a:custGeom>
          <a:blipFill>
            <a:blip r:embed="rId2">
              <a:alphaModFix amt="0"/>
            </a:blip>
            <a:stretch>
              <a:fillRect l="-11770" t="-157615" r="-5899" b="-148313"/>
            </a:stretch>
          </a:blipFill>
        </p:spPr>
      </p:sp>
      <p:grpSp>
        <p:nvGrpSpPr>
          <p:cNvPr id="15" name="Group 15"/>
          <p:cNvGrpSpPr/>
          <p:nvPr/>
        </p:nvGrpSpPr>
        <p:grpSpPr>
          <a:xfrm>
            <a:off x="977544" y="6038627"/>
            <a:ext cx="16230600" cy="2268221"/>
            <a:chOff x="0" y="0"/>
            <a:chExt cx="4274726" cy="597392"/>
          </a:xfrm>
        </p:grpSpPr>
        <p:sp>
          <p:nvSpPr>
            <p:cNvPr id="16" name="Freeform 16"/>
            <p:cNvSpPr/>
            <p:nvPr/>
          </p:nvSpPr>
          <p:spPr>
            <a:xfrm>
              <a:off x="0" y="0"/>
              <a:ext cx="4274726" cy="597392"/>
            </a:xfrm>
            <a:custGeom>
              <a:avLst/>
              <a:gdLst/>
              <a:ahLst/>
              <a:cxnLst/>
              <a:rect l="l" t="t" r="r" b="b"/>
              <a:pathLst>
                <a:path w="4274726" h="597392">
                  <a:moveTo>
                    <a:pt x="24327" y="0"/>
                  </a:moveTo>
                  <a:lnTo>
                    <a:pt x="4250399" y="0"/>
                  </a:lnTo>
                  <a:cubicBezTo>
                    <a:pt x="4263834" y="0"/>
                    <a:pt x="4274726" y="10891"/>
                    <a:pt x="4274726" y="24327"/>
                  </a:cubicBezTo>
                  <a:lnTo>
                    <a:pt x="4274726" y="573065"/>
                  </a:lnTo>
                  <a:cubicBezTo>
                    <a:pt x="4274726" y="579517"/>
                    <a:pt x="4272163" y="585704"/>
                    <a:pt x="4267601" y="590266"/>
                  </a:cubicBezTo>
                  <a:cubicBezTo>
                    <a:pt x="4263039" y="594829"/>
                    <a:pt x="4256851" y="597392"/>
                    <a:pt x="4250399" y="597392"/>
                  </a:cubicBezTo>
                  <a:lnTo>
                    <a:pt x="24327" y="597392"/>
                  </a:lnTo>
                  <a:cubicBezTo>
                    <a:pt x="10891" y="597392"/>
                    <a:pt x="0" y="586500"/>
                    <a:pt x="0" y="573065"/>
                  </a:cubicBezTo>
                  <a:lnTo>
                    <a:pt x="0" y="24327"/>
                  </a:lnTo>
                  <a:cubicBezTo>
                    <a:pt x="0" y="10891"/>
                    <a:pt x="10891" y="0"/>
                    <a:pt x="24327" y="0"/>
                  </a:cubicBezTo>
                  <a:close/>
                </a:path>
              </a:pathLst>
            </a:custGeom>
            <a:solidFill>
              <a:srgbClr val="454545">
                <a:alpha val="49804"/>
              </a:srgbClr>
            </a:solidFill>
          </p:spPr>
        </p:sp>
        <p:sp>
          <p:nvSpPr>
            <p:cNvPr id="17" name="TextBox 17"/>
            <p:cNvSpPr txBox="1"/>
            <p:nvPr/>
          </p:nvSpPr>
          <p:spPr>
            <a:xfrm>
              <a:off x="0" y="-95250"/>
              <a:ext cx="4274726" cy="692642"/>
            </a:xfrm>
            <a:prstGeom prst="rect">
              <a:avLst/>
            </a:prstGeom>
          </p:spPr>
          <p:txBody>
            <a:bodyPr lIns="50800" tIns="50800" rIns="50800" bIns="50800" rtlCol="0" anchor="ctr"/>
            <a:lstStyle/>
            <a:p>
              <a:pPr algn="ctr">
                <a:lnSpc>
                  <a:spcPts val="3499"/>
                </a:lnSpc>
              </a:pPr>
              <a:endParaRPr/>
            </a:p>
          </p:txBody>
        </p:sp>
      </p:grpSp>
      <p:sp>
        <p:nvSpPr>
          <p:cNvPr id="18" name="Freeform 18"/>
          <p:cNvSpPr/>
          <p:nvPr/>
        </p:nvSpPr>
        <p:spPr>
          <a:xfrm>
            <a:off x="15592698" y="5530988"/>
            <a:ext cx="2418361" cy="1249964"/>
          </a:xfrm>
          <a:custGeom>
            <a:avLst/>
            <a:gdLst/>
            <a:ahLst/>
            <a:cxnLst/>
            <a:rect l="l" t="t" r="r" b="b"/>
            <a:pathLst>
              <a:path w="2418361" h="1249964">
                <a:moveTo>
                  <a:pt x="0" y="0"/>
                </a:moveTo>
                <a:lnTo>
                  <a:pt x="2418361" y="0"/>
                </a:lnTo>
                <a:lnTo>
                  <a:pt x="2418361" y="1249964"/>
                </a:lnTo>
                <a:lnTo>
                  <a:pt x="0" y="1249964"/>
                </a:lnTo>
                <a:lnTo>
                  <a:pt x="0" y="0"/>
                </a:lnTo>
                <a:close/>
              </a:path>
            </a:pathLst>
          </a:custGeom>
          <a:blipFill>
            <a:blip r:embed="rId3"/>
            <a:stretch>
              <a:fillRect l="-11029" t="-147413" b="-134477"/>
            </a:stretch>
          </a:blipFill>
        </p:spPr>
      </p:sp>
      <p:sp>
        <p:nvSpPr>
          <p:cNvPr id="19" name="Freeform 19"/>
          <p:cNvSpPr/>
          <p:nvPr/>
        </p:nvSpPr>
        <p:spPr>
          <a:xfrm flipH="1">
            <a:off x="225785" y="7518273"/>
            <a:ext cx="2418361" cy="1249964"/>
          </a:xfrm>
          <a:custGeom>
            <a:avLst/>
            <a:gdLst/>
            <a:ahLst/>
            <a:cxnLst/>
            <a:rect l="l" t="t" r="r" b="b"/>
            <a:pathLst>
              <a:path w="2418361" h="1249964">
                <a:moveTo>
                  <a:pt x="2418361" y="0"/>
                </a:moveTo>
                <a:lnTo>
                  <a:pt x="0" y="0"/>
                </a:lnTo>
                <a:lnTo>
                  <a:pt x="0" y="1249964"/>
                </a:lnTo>
                <a:lnTo>
                  <a:pt x="2418361" y="1249964"/>
                </a:lnTo>
                <a:lnTo>
                  <a:pt x="2418361" y="0"/>
                </a:lnTo>
                <a:close/>
              </a:path>
            </a:pathLst>
          </a:custGeom>
          <a:blipFill>
            <a:blip r:embed="rId3"/>
            <a:stretch>
              <a:fillRect l="-11029" t="-147413" b="-134477"/>
            </a:stretch>
          </a:blipFill>
        </p:spPr>
      </p:sp>
      <p:sp>
        <p:nvSpPr>
          <p:cNvPr id="20" name="TextBox 20"/>
          <p:cNvSpPr txBox="1"/>
          <p:nvPr/>
        </p:nvSpPr>
        <p:spPr>
          <a:xfrm>
            <a:off x="951966" y="6145625"/>
            <a:ext cx="16230600" cy="1911350"/>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Arial MT Pro"/>
                <a:ea typeface="Arial MT Pro"/>
                <a:cs typeface="Arial MT Pro"/>
                <a:sym typeface="Arial MT Pro"/>
              </a:rPr>
              <a:t>Investigar e comparar as diferenças no comportamento acústico de indivíduos expostos a diversos cenários ambientais projetados pelo IPCC (Painel Intergovernamental sobre Mudanças Climáticas).</a:t>
            </a:r>
          </a:p>
        </p:txBody>
      </p:sp>
      <p:sp>
        <p:nvSpPr>
          <p:cNvPr id="21" name="TextBox 21"/>
          <p:cNvSpPr txBox="1"/>
          <p:nvPr/>
        </p:nvSpPr>
        <p:spPr>
          <a:xfrm>
            <a:off x="951966" y="5282977"/>
            <a:ext cx="2831217" cy="7556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Arial MT Pro Bold"/>
                <a:ea typeface="Arial MT Pro Bold"/>
                <a:cs typeface="Arial MT Pro Bold"/>
                <a:sym typeface="Arial MT Pro Bold"/>
              </a:rPr>
              <a:t>Especificos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grpSp>
        <p:nvGrpSpPr>
          <p:cNvPr id="4" name="Group 4"/>
          <p:cNvGrpSpPr/>
          <p:nvPr/>
        </p:nvGrpSpPr>
        <p:grpSpPr>
          <a:xfrm>
            <a:off x="659665" y="5838335"/>
            <a:ext cx="7840383" cy="3210979"/>
            <a:chOff x="0" y="0"/>
            <a:chExt cx="2064957" cy="845690"/>
          </a:xfrm>
        </p:grpSpPr>
        <p:sp>
          <p:nvSpPr>
            <p:cNvPr id="5" name="Freeform 5"/>
            <p:cNvSpPr/>
            <p:nvPr/>
          </p:nvSpPr>
          <p:spPr>
            <a:xfrm>
              <a:off x="0" y="0"/>
              <a:ext cx="2064957" cy="845690"/>
            </a:xfrm>
            <a:custGeom>
              <a:avLst/>
              <a:gdLst/>
              <a:ahLst/>
              <a:cxnLst/>
              <a:rect l="l" t="t" r="r" b="b"/>
              <a:pathLst>
                <a:path w="2064957" h="845690">
                  <a:moveTo>
                    <a:pt x="50360" y="0"/>
                  </a:moveTo>
                  <a:lnTo>
                    <a:pt x="2014597" y="0"/>
                  </a:lnTo>
                  <a:cubicBezTo>
                    <a:pt x="2042410" y="0"/>
                    <a:pt x="2064957" y="22547"/>
                    <a:pt x="2064957" y="50360"/>
                  </a:cubicBezTo>
                  <a:lnTo>
                    <a:pt x="2064957" y="795331"/>
                  </a:lnTo>
                  <a:cubicBezTo>
                    <a:pt x="2064957" y="808687"/>
                    <a:pt x="2059651" y="821496"/>
                    <a:pt x="2050207" y="830940"/>
                  </a:cubicBezTo>
                  <a:cubicBezTo>
                    <a:pt x="2040762" y="840384"/>
                    <a:pt x="2027953" y="845690"/>
                    <a:pt x="2014597" y="845690"/>
                  </a:cubicBezTo>
                  <a:lnTo>
                    <a:pt x="50360" y="845690"/>
                  </a:lnTo>
                  <a:cubicBezTo>
                    <a:pt x="22547" y="845690"/>
                    <a:pt x="0" y="823143"/>
                    <a:pt x="0" y="795331"/>
                  </a:cubicBezTo>
                  <a:lnTo>
                    <a:pt x="0" y="50360"/>
                  </a:lnTo>
                  <a:cubicBezTo>
                    <a:pt x="0" y="22547"/>
                    <a:pt x="22547" y="0"/>
                    <a:pt x="50360" y="0"/>
                  </a:cubicBezTo>
                  <a:close/>
                </a:path>
              </a:pathLst>
            </a:custGeom>
            <a:solidFill>
              <a:srgbClr val="454545">
                <a:alpha val="49804"/>
              </a:srgbClr>
            </a:solidFill>
          </p:spPr>
        </p:sp>
        <p:sp>
          <p:nvSpPr>
            <p:cNvPr id="6" name="TextBox 6"/>
            <p:cNvSpPr txBox="1"/>
            <p:nvPr/>
          </p:nvSpPr>
          <p:spPr>
            <a:xfrm>
              <a:off x="0" y="-85725"/>
              <a:ext cx="2064957" cy="931415"/>
            </a:xfrm>
            <a:prstGeom prst="rect">
              <a:avLst/>
            </a:prstGeom>
          </p:spPr>
          <p:txBody>
            <a:bodyPr lIns="50800" tIns="50800" rIns="50800" bIns="50800" rtlCol="0" anchor="ctr"/>
            <a:lstStyle/>
            <a:p>
              <a:pPr algn="ctr">
                <a:lnSpc>
                  <a:spcPts val="2927"/>
                </a:lnSpc>
              </a:pPr>
              <a:endParaRPr/>
            </a:p>
          </p:txBody>
        </p:sp>
      </p:grpSp>
      <p:sp>
        <p:nvSpPr>
          <p:cNvPr id="7" name="TextBox 7"/>
          <p:cNvSpPr txBox="1"/>
          <p:nvPr/>
        </p:nvSpPr>
        <p:spPr>
          <a:xfrm>
            <a:off x="713422" y="141576"/>
            <a:ext cx="4487466" cy="1152525"/>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Metodologia</a:t>
            </a:r>
          </a:p>
        </p:txBody>
      </p:sp>
      <p:sp>
        <p:nvSpPr>
          <p:cNvPr id="8" name="TextBox 8"/>
          <p:cNvSpPr txBox="1"/>
          <p:nvPr/>
        </p:nvSpPr>
        <p:spPr>
          <a:xfrm>
            <a:off x="17259300" y="9115425"/>
            <a:ext cx="587785"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7.</a:t>
            </a:r>
          </a:p>
        </p:txBody>
      </p:sp>
      <p:grpSp>
        <p:nvGrpSpPr>
          <p:cNvPr id="9" name="Group 9"/>
          <p:cNvGrpSpPr/>
          <p:nvPr/>
        </p:nvGrpSpPr>
        <p:grpSpPr>
          <a:xfrm>
            <a:off x="10905782" y="379701"/>
            <a:ext cx="5710875" cy="4129417"/>
            <a:chOff x="0" y="0"/>
            <a:chExt cx="7614500" cy="5505889"/>
          </a:xfrm>
        </p:grpSpPr>
        <p:grpSp>
          <p:nvGrpSpPr>
            <p:cNvPr id="10" name="Group 10"/>
            <p:cNvGrpSpPr/>
            <p:nvPr/>
          </p:nvGrpSpPr>
          <p:grpSpPr>
            <a:xfrm>
              <a:off x="0" y="0"/>
              <a:ext cx="7614500" cy="5505889"/>
              <a:chOff x="0" y="0"/>
              <a:chExt cx="1829034" cy="1322537"/>
            </a:xfrm>
          </p:grpSpPr>
          <p:sp>
            <p:nvSpPr>
              <p:cNvPr id="11" name="Freeform 11"/>
              <p:cNvSpPr/>
              <p:nvPr/>
            </p:nvSpPr>
            <p:spPr>
              <a:xfrm>
                <a:off x="0" y="0"/>
                <a:ext cx="1829034" cy="1322537"/>
              </a:xfrm>
              <a:custGeom>
                <a:avLst/>
                <a:gdLst/>
                <a:ahLst/>
                <a:cxnLst/>
                <a:rect l="l" t="t" r="r" b="b"/>
                <a:pathLst>
                  <a:path w="1829034" h="1322537">
                    <a:moveTo>
                      <a:pt x="18952" y="0"/>
                    </a:moveTo>
                    <a:lnTo>
                      <a:pt x="1810082" y="0"/>
                    </a:lnTo>
                    <a:cubicBezTo>
                      <a:pt x="1820549" y="0"/>
                      <a:pt x="1829034" y="8485"/>
                      <a:pt x="1829034" y="18952"/>
                    </a:cubicBezTo>
                    <a:lnTo>
                      <a:pt x="1829034" y="1303585"/>
                    </a:lnTo>
                    <a:cubicBezTo>
                      <a:pt x="1829034" y="1314052"/>
                      <a:pt x="1820549" y="1322537"/>
                      <a:pt x="1810082" y="1322537"/>
                    </a:cubicBezTo>
                    <a:lnTo>
                      <a:pt x="18952" y="1322537"/>
                    </a:lnTo>
                    <a:cubicBezTo>
                      <a:pt x="8485" y="1322537"/>
                      <a:pt x="0" y="1314052"/>
                      <a:pt x="0" y="1303585"/>
                    </a:cubicBezTo>
                    <a:lnTo>
                      <a:pt x="0" y="18952"/>
                    </a:lnTo>
                    <a:cubicBezTo>
                      <a:pt x="0" y="8485"/>
                      <a:pt x="8485" y="0"/>
                      <a:pt x="18952" y="0"/>
                    </a:cubicBezTo>
                    <a:close/>
                  </a:path>
                </a:pathLst>
              </a:custGeom>
              <a:ln w="47625" cap="sq">
                <a:solidFill>
                  <a:srgbClr val="000000"/>
                </a:solidFill>
                <a:prstDash val="solid"/>
                <a:miter/>
              </a:ln>
            </p:spPr>
          </p:sp>
          <p:sp>
            <p:nvSpPr>
              <p:cNvPr id="12" name="TextBox 12"/>
              <p:cNvSpPr txBox="1"/>
              <p:nvPr/>
            </p:nvSpPr>
            <p:spPr>
              <a:xfrm>
                <a:off x="0" y="-95250"/>
                <a:ext cx="1829034" cy="1417787"/>
              </a:xfrm>
              <a:prstGeom prst="rect">
                <a:avLst/>
              </a:prstGeom>
            </p:spPr>
            <p:txBody>
              <a:bodyPr lIns="50800" tIns="50800" rIns="50800" bIns="50800" rtlCol="0" anchor="ctr"/>
              <a:lstStyle/>
              <a:p>
                <a:pPr algn="ctr">
                  <a:lnSpc>
                    <a:spcPts val="3220"/>
                  </a:lnSpc>
                </a:pPr>
                <a:endParaRPr/>
              </a:p>
            </p:txBody>
          </p:sp>
        </p:grpSp>
        <p:sp>
          <p:nvSpPr>
            <p:cNvPr id="13" name="Freeform 13"/>
            <p:cNvSpPr/>
            <p:nvPr/>
          </p:nvSpPr>
          <p:spPr>
            <a:xfrm rot="-1014934" flipH="1">
              <a:off x="5715912" y="3656439"/>
              <a:ext cx="1802446" cy="928868"/>
            </a:xfrm>
            <a:custGeom>
              <a:avLst/>
              <a:gdLst/>
              <a:ahLst/>
              <a:cxnLst/>
              <a:rect l="l" t="t" r="r" b="b"/>
              <a:pathLst>
                <a:path w="1802446" h="928868">
                  <a:moveTo>
                    <a:pt x="1802447" y="0"/>
                  </a:moveTo>
                  <a:lnTo>
                    <a:pt x="0" y="0"/>
                  </a:lnTo>
                  <a:lnTo>
                    <a:pt x="0" y="928868"/>
                  </a:lnTo>
                  <a:lnTo>
                    <a:pt x="1802447" y="928868"/>
                  </a:lnTo>
                  <a:lnTo>
                    <a:pt x="1802447" y="0"/>
                  </a:lnTo>
                  <a:close/>
                </a:path>
              </a:pathLst>
            </a:custGeom>
            <a:blipFill>
              <a:blip r:embed="rId2"/>
              <a:stretch>
                <a:fillRect l="-11770" t="-157615" r="-5899" b="-148313"/>
              </a:stretch>
            </a:blipFill>
          </p:spPr>
        </p:sp>
        <p:sp>
          <p:nvSpPr>
            <p:cNvPr id="14" name="Freeform 14"/>
            <p:cNvSpPr/>
            <p:nvPr/>
          </p:nvSpPr>
          <p:spPr>
            <a:xfrm rot="-1014934" flipH="1">
              <a:off x="3866949" y="3656439"/>
              <a:ext cx="1802446" cy="928868"/>
            </a:xfrm>
            <a:custGeom>
              <a:avLst/>
              <a:gdLst/>
              <a:ahLst/>
              <a:cxnLst/>
              <a:rect l="l" t="t" r="r" b="b"/>
              <a:pathLst>
                <a:path w="1802446" h="928868">
                  <a:moveTo>
                    <a:pt x="1802447" y="0"/>
                  </a:moveTo>
                  <a:lnTo>
                    <a:pt x="0" y="0"/>
                  </a:lnTo>
                  <a:lnTo>
                    <a:pt x="0" y="928868"/>
                  </a:lnTo>
                  <a:lnTo>
                    <a:pt x="1802447" y="928868"/>
                  </a:lnTo>
                  <a:lnTo>
                    <a:pt x="1802447" y="0"/>
                  </a:lnTo>
                  <a:close/>
                </a:path>
              </a:pathLst>
            </a:custGeom>
            <a:blipFill>
              <a:blip r:embed="rId2"/>
              <a:stretch>
                <a:fillRect l="-11770" t="-157615" r="-5899" b="-148313"/>
              </a:stretch>
            </a:blipFill>
          </p:spPr>
        </p:sp>
        <p:sp>
          <p:nvSpPr>
            <p:cNvPr id="15" name="Freeform 15"/>
            <p:cNvSpPr/>
            <p:nvPr/>
          </p:nvSpPr>
          <p:spPr>
            <a:xfrm rot="-1014934" flipH="1">
              <a:off x="2017987" y="3656439"/>
              <a:ext cx="1802446" cy="928868"/>
            </a:xfrm>
            <a:custGeom>
              <a:avLst/>
              <a:gdLst/>
              <a:ahLst/>
              <a:cxnLst/>
              <a:rect l="l" t="t" r="r" b="b"/>
              <a:pathLst>
                <a:path w="1802446" h="928868">
                  <a:moveTo>
                    <a:pt x="1802446" y="0"/>
                  </a:moveTo>
                  <a:lnTo>
                    <a:pt x="0" y="0"/>
                  </a:lnTo>
                  <a:lnTo>
                    <a:pt x="0" y="928868"/>
                  </a:lnTo>
                  <a:lnTo>
                    <a:pt x="1802446" y="928868"/>
                  </a:lnTo>
                  <a:lnTo>
                    <a:pt x="1802446" y="0"/>
                  </a:lnTo>
                  <a:close/>
                </a:path>
              </a:pathLst>
            </a:custGeom>
            <a:blipFill>
              <a:blip r:embed="rId2"/>
              <a:stretch>
                <a:fillRect l="-11770" t="-157615" r="-5899" b="-148313"/>
              </a:stretch>
            </a:blipFill>
          </p:spPr>
        </p:sp>
        <p:sp>
          <p:nvSpPr>
            <p:cNvPr id="16" name="Freeform 16"/>
            <p:cNvSpPr/>
            <p:nvPr/>
          </p:nvSpPr>
          <p:spPr>
            <a:xfrm rot="-1014934" flipH="1">
              <a:off x="169024" y="3656439"/>
              <a:ext cx="1802446" cy="928868"/>
            </a:xfrm>
            <a:custGeom>
              <a:avLst/>
              <a:gdLst/>
              <a:ahLst/>
              <a:cxnLst/>
              <a:rect l="l" t="t" r="r" b="b"/>
              <a:pathLst>
                <a:path w="1802446" h="928868">
                  <a:moveTo>
                    <a:pt x="1802446" y="0"/>
                  </a:moveTo>
                  <a:lnTo>
                    <a:pt x="0" y="0"/>
                  </a:lnTo>
                  <a:lnTo>
                    <a:pt x="0" y="928868"/>
                  </a:lnTo>
                  <a:lnTo>
                    <a:pt x="1802446" y="928868"/>
                  </a:lnTo>
                  <a:lnTo>
                    <a:pt x="1802446" y="0"/>
                  </a:lnTo>
                  <a:close/>
                </a:path>
              </a:pathLst>
            </a:custGeom>
            <a:blipFill>
              <a:blip r:embed="rId3"/>
              <a:stretch>
                <a:fillRect l="-11770" t="-157615" r="-5899" b="-148313"/>
              </a:stretch>
            </a:blipFill>
            <a:ln cap="sq">
              <a:noFill/>
              <a:prstDash val="solid"/>
              <a:miter/>
            </a:ln>
          </p:spPr>
        </p:sp>
        <p:grpSp>
          <p:nvGrpSpPr>
            <p:cNvPr id="17" name="Group 17"/>
            <p:cNvGrpSpPr/>
            <p:nvPr/>
          </p:nvGrpSpPr>
          <p:grpSpPr>
            <a:xfrm>
              <a:off x="72883" y="4120873"/>
              <a:ext cx="1732354" cy="1299266"/>
              <a:chOff x="0" y="0"/>
              <a:chExt cx="812800" cy="609600"/>
            </a:xfrm>
          </p:grpSpPr>
          <p:sp>
            <p:nvSpPr>
              <p:cNvPr id="18" name="Freeform 18"/>
              <p:cNvSpPr/>
              <p:nvPr/>
            </p:nvSpPr>
            <p:spPr>
              <a:xfrm>
                <a:off x="0" y="0"/>
                <a:ext cx="812800" cy="609600"/>
              </a:xfrm>
              <a:custGeom>
                <a:avLst/>
                <a:gdLst/>
                <a:ahLst/>
                <a:cxnLst/>
                <a:rect l="l" t="t" r="r" b="b"/>
                <a:pathLst>
                  <a:path w="812800" h="609600">
                    <a:moveTo>
                      <a:pt x="203200" y="609600"/>
                    </a:moveTo>
                    <a:lnTo>
                      <a:pt x="609600" y="609600"/>
                    </a:lnTo>
                    <a:lnTo>
                      <a:pt x="812800" y="0"/>
                    </a:lnTo>
                    <a:lnTo>
                      <a:pt x="0" y="0"/>
                    </a:lnTo>
                    <a:lnTo>
                      <a:pt x="203200" y="609600"/>
                    </a:lnTo>
                    <a:close/>
                  </a:path>
                </a:pathLst>
              </a:custGeom>
              <a:gradFill rotWithShape="1">
                <a:gsLst>
                  <a:gs pos="0">
                    <a:srgbClr val="CDFFD8">
                      <a:alpha val="100000"/>
                    </a:srgbClr>
                  </a:gs>
                  <a:gs pos="100000">
                    <a:srgbClr val="94B9FF">
                      <a:alpha val="100000"/>
                    </a:srgbClr>
                  </a:gs>
                </a:gsLst>
                <a:lin ang="0"/>
              </a:gradFill>
              <a:ln w="47625" cap="sq">
                <a:solidFill>
                  <a:srgbClr val="000000"/>
                </a:solidFill>
                <a:prstDash val="solid"/>
                <a:miter/>
              </a:ln>
            </p:spPr>
          </p:sp>
          <p:sp>
            <p:nvSpPr>
              <p:cNvPr id="19" name="TextBox 19"/>
              <p:cNvSpPr txBox="1"/>
              <p:nvPr/>
            </p:nvSpPr>
            <p:spPr>
              <a:xfrm>
                <a:off x="127000" y="-95250"/>
                <a:ext cx="558800" cy="704850"/>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a:off x="1921846" y="4120873"/>
              <a:ext cx="1732354" cy="1299266"/>
              <a:chOff x="0" y="0"/>
              <a:chExt cx="812800" cy="609600"/>
            </a:xfrm>
          </p:grpSpPr>
          <p:sp>
            <p:nvSpPr>
              <p:cNvPr id="21" name="Freeform 21"/>
              <p:cNvSpPr/>
              <p:nvPr/>
            </p:nvSpPr>
            <p:spPr>
              <a:xfrm>
                <a:off x="0" y="0"/>
                <a:ext cx="812800" cy="609600"/>
              </a:xfrm>
              <a:custGeom>
                <a:avLst/>
                <a:gdLst/>
                <a:ahLst/>
                <a:cxnLst/>
                <a:rect l="l" t="t" r="r" b="b"/>
                <a:pathLst>
                  <a:path w="812800" h="609600">
                    <a:moveTo>
                      <a:pt x="203200" y="609600"/>
                    </a:moveTo>
                    <a:lnTo>
                      <a:pt x="609600" y="609600"/>
                    </a:lnTo>
                    <a:lnTo>
                      <a:pt x="812800" y="0"/>
                    </a:lnTo>
                    <a:lnTo>
                      <a:pt x="0" y="0"/>
                    </a:lnTo>
                    <a:lnTo>
                      <a:pt x="203200" y="609600"/>
                    </a:lnTo>
                    <a:close/>
                  </a:path>
                </a:pathLst>
              </a:custGeom>
              <a:gradFill rotWithShape="1">
                <a:gsLst>
                  <a:gs pos="0">
                    <a:srgbClr val="CDFFD8">
                      <a:alpha val="100000"/>
                    </a:srgbClr>
                  </a:gs>
                  <a:gs pos="100000">
                    <a:srgbClr val="94B9FF">
                      <a:alpha val="100000"/>
                    </a:srgbClr>
                  </a:gs>
                </a:gsLst>
                <a:lin ang="0"/>
              </a:gradFill>
              <a:ln w="47625" cap="sq">
                <a:solidFill>
                  <a:srgbClr val="000000"/>
                </a:solidFill>
                <a:prstDash val="solid"/>
                <a:miter/>
              </a:ln>
            </p:spPr>
          </p:sp>
          <p:sp>
            <p:nvSpPr>
              <p:cNvPr id="22" name="TextBox 22"/>
              <p:cNvSpPr txBox="1"/>
              <p:nvPr/>
            </p:nvSpPr>
            <p:spPr>
              <a:xfrm>
                <a:off x="127000" y="-95250"/>
                <a:ext cx="558800" cy="704850"/>
              </a:xfrm>
              <a:prstGeom prst="rect">
                <a:avLst/>
              </a:prstGeom>
            </p:spPr>
            <p:txBody>
              <a:bodyPr lIns="50800" tIns="50800" rIns="50800" bIns="50800" rtlCol="0" anchor="ctr"/>
              <a:lstStyle/>
              <a:p>
                <a:pPr algn="ctr">
                  <a:lnSpc>
                    <a:spcPts val="3220"/>
                  </a:lnSpc>
                </a:pPr>
                <a:endParaRPr/>
              </a:p>
            </p:txBody>
          </p:sp>
        </p:grpSp>
        <p:grpSp>
          <p:nvGrpSpPr>
            <p:cNvPr id="23" name="Group 23"/>
            <p:cNvGrpSpPr/>
            <p:nvPr/>
          </p:nvGrpSpPr>
          <p:grpSpPr>
            <a:xfrm>
              <a:off x="3770808" y="4120873"/>
              <a:ext cx="1732354" cy="1299266"/>
              <a:chOff x="0" y="0"/>
              <a:chExt cx="812800" cy="609600"/>
            </a:xfrm>
          </p:grpSpPr>
          <p:sp>
            <p:nvSpPr>
              <p:cNvPr id="24" name="Freeform 24"/>
              <p:cNvSpPr/>
              <p:nvPr/>
            </p:nvSpPr>
            <p:spPr>
              <a:xfrm>
                <a:off x="0" y="0"/>
                <a:ext cx="812800" cy="609600"/>
              </a:xfrm>
              <a:custGeom>
                <a:avLst/>
                <a:gdLst/>
                <a:ahLst/>
                <a:cxnLst/>
                <a:rect l="l" t="t" r="r" b="b"/>
                <a:pathLst>
                  <a:path w="812800" h="609600">
                    <a:moveTo>
                      <a:pt x="203200" y="609600"/>
                    </a:moveTo>
                    <a:lnTo>
                      <a:pt x="609600" y="609600"/>
                    </a:lnTo>
                    <a:lnTo>
                      <a:pt x="812800" y="0"/>
                    </a:lnTo>
                    <a:lnTo>
                      <a:pt x="0" y="0"/>
                    </a:lnTo>
                    <a:lnTo>
                      <a:pt x="203200" y="609600"/>
                    </a:lnTo>
                    <a:close/>
                  </a:path>
                </a:pathLst>
              </a:custGeom>
              <a:gradFill rotWithShape="1">
                <a:gsLst>
                  <a:gs pos="0">
                    <a:srgbClr val="CDFFD8">
                      <a:alpha val="100000"/>
                    </a:srgbClr>
                  </a:gs>
                  <a:gs pos="100000">
                    <a:srgbClr val="94B9FF">
                      <a:alpha val="100000"/>
                    </a:srgbClr>
                  </a:gs>
                </a:gsLst>
                <a:lin ang="0"/>
              </a:gradFill>
              <a:ln w="47625" cap="sq">
                <a:solidFill>
                  <a:srgbClr val="000000"/>
                </a:solidFill>
                <a:prstDash val="solid"/>
                <a:miter/>
              </a:ln>
            </p:spPr>
          </p:sp>
          <p:sp>
            <p:nvSpPr>
              <p:cNvPr id="25" name="TextBox 25"/>
              <p:cNvSpPr txBox="1"/>
              <p:nvPr/>
            </p:nvSpPr>
            <p:spPr>
              <a:xfrm>
                <a:off x="127000" y="-95250"/>
                <a:ext cx="558800" cy="704850"/>
              </a:xfrm>
              <a:prstGeom prst="rect">
                <a:avLst/>
              </a:prstGeom>
            </p:spPr>
            <p:txBody>
              <a:bodyPr lIns="50800" tIns="50800" rIns="50800" bIns="50800" rtlCol="0" anchor="ctr"/>
              <a:lstStyle/>
              <a:p>
                <a:pPr algn="ctr">
                  <a:lnSpc>
                    <a:spcPts val="3220"/>
                  </a:lnSpc>
                </a:pPr>
                <a:endParaRPr/>
              </a:p>
            </p:txBody>
          </p:sp>
        </p:grpSp>
        <p:grpSp>
          <p:nvGrpSpPr>
            <p:cNvPr id="26" name="Group 26"/>
            <p:cNvGrpSpPr/>
            <p:nvPr/>
          </p:nvGrpSpPr>
          <p:grpSpPr>
            <a:xfrm>
              <a:off x="5619771" y="4120873"/>
              <a:ext cx="1732354" cy="1299266"/>
              <a:chOff x="0" y="0"/>
              <a:chExt cx="812800" cy="609600"/>
            </a:xfrm>
          </p:grpSpPr>
          <p:sp>
            <p:nvSpPr>
              <p:cNvPr id="27" name="Freeform 27"/>
              <p:cNvSpPr/>
              <p:nvPr/>
            </p:nvSpPr>
            <p:spPr>
              <a:xfrm>
                <a:off x="0" y="0"/>
                <a:ext cx="812800" cy="609600"/>
              </a:xfrm>
              <a:custGeom>
                <a:avLst/>
                <a:gdLst/>
                <a:ahLst/>
                <a:cxnLst/>
                <a:rect l="l" t="t" r="r" b="b"/>
                <a:pathLst>
                  <a:path w="812800" h="609600">
                    <a:moveTo>
                      <a:pt x="203200" y="609600"/>
                    </a:moveTo>
                    <a:lnTo>
                      <a:pt x="609600" y="609600"/>
                    </a:lnTo>
                    <a:lnTo>
                      <a:pt x="812800" y="0"/>
                    </a:lnTo>
                    <a:lnTo>
                      <a:pt x="0" y="0"/>
                    </a:lnTo>
                    <a:lnTo>
                      <a:pt x="203200" y="609600"/>
                    </a:lnTo>
                    <a:close/>
                  </a:path>
                </a:pathLst>
              </a:custGeom>
              <a:gradFill rotWithShape="1">
                <a:gsLst>
                  <a:gs pos="0">
                    <a:srgbClr val="CDFFD8">
                      <a:alpha val="100000"/>
                    </a:srgbClr>
                  </a:gs>
                  <a:gs pos="100000">
                    <a:srgbClr val="94B9FF">
                      <a:alpha val="100000"/>
                    </a:srgbClr>
                  </a:gs>
                </a:gsLst>
                <a:lin ang="0"/>
              </a:gradFill>
              <a:ln w="47625" cap="sq">
                <a:solidFill>
                  <a:srgbClr val="000000"/>
                </a:solidFill>
                <a:prstDash val="solid"/>
                <a:miter/>
              </a:ln>
            </p:spPr>
          </p:sp>
          <p:sp>
            <p:nvSpPr>
              <p:cNvPr id="28" name="TextBox 28"/>
              <p:cNvSpPr txBox="1"/>
              <p:nvPr/>
            </p:nvSpPr>
            <p:spPr>
              <a:xfrm>
                <a:off x="127000" y="-95250"/>
                <a:ext cx="558800" cy="704850"/>
              </a:xfrm>
              <a:prstGeom prst="rect">
                <a:avLst/>
              </a:prstGeom>
            </p:spPr>
            <p:txBody>
              <a:bodyPr lIns="50800" tIns="50800" rIns="50800" bIns="50800" rtlCol="0" anchor="ctr"/>
              <a:lstStyle/>
              <a:p>
                <a:pPr algn="ctr">
                  <a:lnSpc>
                    <a:spcPts val="3220"/>
                  </a:lnSpc>
                </a:pPr>
                <a:endParaRPr/>
              </a:p>
            </p:txBody>
          </p:sp>
        </p:grpSp>
        <p:sp>
          <p:nvSpPr>
            <p:cNvPr id="29" name="TextBox 29"/>
            <p:cNvSpPr txBox="1"/>
            <p:nvPr/>
          </p:nvSpPr>
          <p:spPr>
            <a:xfrm>
              <a:off x="399167" y="4116152"/>
              <a:ext cx="1079785" cy="1127732"/>
            </a:xfrm>
            <a:prstGeom prst="rect">
              <a:avLst/>
            </a:prstGeom>
          </p:spPr>
          <p:txBody>
            <a:bodyPr lIns="0" tIns="0" rIns="0" bIns="0" rtlCol="0" anchor="t">
              <a:spAutoFit/>
            </a:bodyPr>
            <a:lstStyle/>
            <a:p>
              <a:pPr algn="ctr">
                <a:lnSpc>
                  <a:spcPts val="6692"/>
                </a:lnSpc>
                <a:spcBef>
                  <a:spcPct val="0"/>
                </a:spcBef>
              </a:pPr>
              <a:r>
                <a:rPr lang="en-US" sz="4780">
                  <a:solidFill>
                    <a:srgbClr val="000000"/>
                  </a:solidFill>
                  <a:latin typeface="Arial MT Pro"/>
                  <a:ea typeface="Arial MT Pro"/>
                  <a:cs typeface="Arial MT Pro"/>
                  <a:sym typeface="Arial MT Pro"/>
                </a:rPr>
                <a:t>2O</a:t>
              </a:r>
            </a:p>
          </p:txBody>
        </p:sp>
        <p:sp>
          <p:nvSpPr>
            <p:cNvPr id="30" name="TextBox 30"/>
            <p:cNvSpPr txBox="1"/>
            <p:nvPr/>
          </p:nvSpPr>
          <p:spPr>
            <a:xfrm>
              <a:off x="2248130" y="4116152"/>
              <a:ext cx="1079785" cy="1127732"/>
            </a:xfrm>
            <a:prstGeom prst="rect">
              <a:avLst/>
            </a:prstGeom>
          </p:spPr>
          <p:txBody>
            <a:bodyPr lIns="0" tIns="0" rIns="0" bIns="0" rtlCol="0" anchor="t">
              <a:spAutoFit/>
            </a:bodyPr>
            <a:lstStyle/>
            <a:p>
              <a:pPr algn="ctr">
                <a:lnSpc>
                  <a:spcPts val="6692"/>
                </a:lnSpc>
                <a:spcBef>
                  <a:spcPct val="0"/>
                </a:spcBef>
              </a:pPr>
              <a:r>
                <a:rPr lang="en-US" sz="4780">
                  <a:solidFill>
                    <a:srgbClr val="000000"/>
                  </a:solidFill>
                  <a:latin typeface="Arial MT Pro"/>
                  <a:ea typeface="Arial MT Pro"/>
                  <a:cs typeface="Arial MT Pro"/>
                  <a:sym typeface="Arial MT Pro"/>
                </a:rPr>
                <a:t>2O</a:t>
              </a:r>
            </a:p>
          </p:txBody>
        </p:sp>
        <p:sp>
          <p:nvSpPr>
            <p:cNvPr id="31" name="TextBox 31"/>
            <p:cNvSpPr txBox="1"/>
            <p:nvPr/>
          </p:nvSpPr>
          <p:spPr>
            <a:xfrm>
              <a:off x="4097093" y="4116152"/>
              <a:ext cx="1079785" cy="1127732"/>
            </a:xfrm>
            <a:prstGeom prst="rect">
              <a:avLst/>
            </a:prstGeom>
          </p:spPr>
          <p:txBody>
            <a:bodyPr lIns="0" tIns="0" rIns="0" bIns="0" rtlCol="0" anchor="t">
              <a:spAutoFit/>
            </a:bodyPr>
            <a:lstStyle/>
            <a:p>
              <a:pPr algn="ctr">
                <a:lnSpc>
                  <a:spcPts val="6692"/>
                </a:lnSpc>
                <a:spcBef>
                  <a:spcPct val="0"/>
                </a:spcBef>
              </a:pPr>
              <a:r>
                <a:rPr lang="en-US" sz="4780">
                  <a:solidFill>
                    <a:srgbClr val="000000"/>
                  </a:solidFill>
                  <a:latin typeface="Arial MT Pro"/>
                  <a:ea typeface="Arial MT Pro"/>
                  <a:cs typeface="Arial MT Pro"/>
                  <a:sym typeface="Arial MT Pro"/>
                </a:rPr>
                <a:t>2O</a:t>
              </a:r>
            </a:p>
          </p:txBody>
        </p:sp>
        <p:sp>
          <p:nvSpPr>
            <p:cNvPr id="32" name="TextBox 32"/>
            <p:cNvSpPr txBox="1"/>
            <p:nvPr/>
          </p:nvSpPr>
          <p:spPr>
            <a:xfrm>
              <a:off x="5946056" y="4116152"/>
              <a:ext cx="1079785" cy="1127732"/>
            </a:xfrm>
            <a:prstGeom prst="rect">
              <a:avLst/>
            </a:prstGeom>
          </p:spPr>
          <p:txBody>
            <a:bodyPr lIns="0" tIns="0" rIns="0" bIns="0" rtlCol="0" anchor="t">
              <a:spAutoFit/>
            </a:bodyPr>
            <a:lstStyle/>
            <a:p>
              <a:pPr algn="ctr">
                <a:lnSpc>
                  <a:spcPts val="6692"/>
                </a:lnSpc>
                <a:spcBef>
                  <a:spcPct val="0"/>
                </a:spcBef>
              </a:pPr>
              <a:r>
                <a:rPr lang="en-US" sz="4780">
                  <a:solidFill>
                    <a:srgbClr val="000000"/>
                  </a:solidFill>
                  <a:latin typeface="Arial MT Pro"/>
                  <a:ea typeface="Arial MT Pro"/>
                  <a:cs typeface="Arial MT Pro"/>
                  <a:sym typeface="Arial MT Pro"/>
                </a:rPr>
                <a:t>2O</a:t>
              </a:r>
            </a:p>
          </p:txBody>
        </p:sp>
        <p:sp>
          <p:nvSpPr>
            <p:cNvPr id="33" name="TextBox 33"/>
            <p:cNvSpPr txBox="1"/>
            <p:nvPr/>
          </p:nvSpPr>
          <p:spPr>
            <a:xfrm>
              <a:off x="598071" y="4916736"/>
              <a:ext cx="681978"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IND.</a:t>
              </a:r>
            </a:p>
          </p:txBody>
        </p:sp>
        <p:sp>
          <p:nvSpPr>
            <p:cNvPr id="34" name="TextBox 34"/>
            <p:cNvSpPr txBox="1"/>
            <p:nvPr/>
          </p:nvSpPr>
          <p:spPr>
            <a:xfrm>
              <a:off x="2447034" y="4901519"/>
              <a:ext cx="681978"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IND.</a:t>
              </a:r>
            </a:p>
          </p:txBody>
        </p:sp>
        <p:sp>
          <p:nvSpPr>
            <p:cNvPr id="35" name="TextBox 35"/>
            <p:cNvSpPr txBox="1"/>
            <p:nvPr/>
          </p:nvSpPr>
          <p:spPr>
            <a:xfrm>
              <a:off x="4295997" y="4886302"/>
              <a:ext cx="681978"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IND.</a:t>
              </a:r>
            </a:p>
          </p:txBody>
        </p:sp>
        <p:sp>
          <p:nvSpPr>
            <p:cNvPr id="36" name="TextBox 36"/>
            <p:cNvSpPr txBox="1"/>
            <p:nvPr/>
          </p:nvSpPr>
          <p:spPr>
            <a:xfrm>
              <a:off x="6144960" y="4871085"/>
              <a:ext cx="681978"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IND.</a:t>
              </a:r>
            </a:p>
          </p:txBody>
        </p:sp>
        <p:sp>
          <p:nvSpPr>
            <p:cNvPr id="37" name="TextBox 37"/>
            <p:cNvSpPr txBox="1"/>
            <p:nvPr/>
          </p:nvSpPr>
          <p:spPr>
            <a:xfrm>
              <a:off x="431125" y="3092043"/>
              <a:ext cx="1015870"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Sala1.</a:t>
              </a:r>
            </a:p>
          </p:txBody>
        </p:sp>
        <p:sp>
          <p:nvSpPr>
            <p:cNvPr id="38" name="TextBox 38"/>
            <p:cNvSpPr txBox="1"/>
            <p:nvPr/>
          </p:nvSpPr>
          <p:spPr>
            <a:xfrm>
              <a:off x="2312045" y="3092043"/>
              <a:ext cx="1015870"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Sala2.</a:t>
              </a:r>
            </a:p>
          </p:txBody>
        </p:sp>
        <p:sp>
          <p:nvSpPr>
            <p:cNvPr id="39" name="TextBox 39"/>
            <p:cNvSpPr txBox="1"/>
            <p:nvPr/>
          </p:nvSpPr>
          <p:spPr>
            <a:xfrm>
              <a:off x="4192965" y="3092043"/>
              <a:ext cx="1015870"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Sala3.</a:t>
              </a:r>
            </a:p>
          </p:txBody>
        </p:sp>
        <p:sp>
          <p:nvSpPr>
            <p:cNvPr id="40" name="TextBox 40"/>
            <p:cNvSpPr txBox="1"/>
            <p:nvPr/>
          </p:nvSpPr>
          <p:spPr>
            <a:xfrm>
              <a:off x="6073886" y="3092043"/>
              <a:ext cx="1015870" cy="503403"/>
            </a:xfrm>
            <a:prstGeom prst="rect">
              <a:avLst/>
            </a:prstGeom>
          </p:spPr>
          <p:txBody>
            <a:bodyPr lIns="0" tIns="0" rIns="0" bIns="0" rtlCol="0" anchor="t">
              <a:spAutoFit/>
            </a:bodyPr>
            <a:lstStyle/>
            <a:p>
              <a:pPr algn="ctr">
                <a:lnSpc>
                  <a:spcPts val="2952"/>
                </a:lnSpc>
                <a:spcBef>
                  <a:spcPct val="0"/>
                </a:spcBef>
              </a:pPr>
              <a:r>
                <a:rPr lang="en-US" sz="2108">
                  <a:solidFill>
                    <a:srgbClr val="000000"/>
                  </a:solidFill>
                  <a:latin typeface="Arial MT Pro"/>
                  <a:ea typeface="Arial MT Pro"/>
                  <a:cs typeface="Arial MT Pro"/>
                  <a:sym typeface="Arial MT Pro"/>
                </a:rPr>
                <a:t>Sala4.</a:t>
              </a:r>
            </a:p>
          </p:txBody>
        </p:sp>
        <p:sp>
          <p:nvSpPr>
            <p:cNvPr id="41" name="AutoShape 41"/>
            <p:cNvSpPr/>
            <p:nvPr/>
          </p:nvSpPr>
          <p:spPr>
            <a:xfrm>
              <a:off x="0" y="3595446"/>
              <a:ext cx="7541617" cy="0"/>
            </a:xfrm>
            <a:prstGeom prst="line">
              <a:avLst/>
            </a:prstGeom>
            <a:ln w="41775" cap="flat">
              <a:solidFill>
                <a:srgbClr val="000000"/>
              </a:solidFill>
              <a:prstDash val="solid"/>
              <a:headEnd type="none" w="sm" len="sm"/>
              <a:tailEnd type="none" w="sm" len="sm"/>
            </a:ln>
          </p:spPr>
        </p:sp>
        <p:sp>
          <p:nvSpPr>
            <p:cNvPr id="42" name="Freeform 42"/>
            <p:cNvSpPr/>
            <p:nvPr/>
          </p:nvSpPr>
          <p:spPr>
            <a:xfrm>
              <a:off x="2718739" y="102507"/>
              <a:ext cx="2177021" cy="2177021"/>
            </a:xfrm>
            <a:custGeom>
              <a:avLst/>
              <a:gdLst/>
              <a:ahLst/>
              <a:cxnLst/>
              <a:rect l="l" t="t" r="r" b="b"/>
              <a:pathLst>
                <a:path w="2177021" h="2177021">
                  <a:moveTo>
                    <a:pt x="0" y="0"/>
                  </a:moveTo>
                  <a:lnTo>
                    <a:pt x="2177021" y="0"/>
                  </a:lnTo>
                  <a:lnTo>
                    <a:pt x="2177021" y="2177021"/>
                  </a:lnTo>
                  <a:lnTo>
                    <a:pt x="0" y="2177021"/>
                  </a:lnTo>
                  <a:lnTo>
                    <a:pt x="0" y="0"/>
                  </a:lnTo>
                  <a:close/>
                </a:path>
              </a:pathLst>
            </a:custGeom>
            <a:blipFill>
              <a:blip r:embed="rId4"/>
              <a:stretch>
                <a:fillRect l="-22190" t="-22190" r="-22190" b="-22190"/>
              </a:stretch>
            </a:blipFill>
          </p:spPr>
        </p:sp>
        <p:sp>
          <p:nvSpPr>
            <p:cNvPr id="43" name="AutoShape 43"/>
            <p:cNvSpPr/>
            <p:nvPr/>
          </p:nvSpPr>
          <p:spPr>
            <a:xfrm flipH="1">
              <a:off x="3807250" y="2538595"/>
              <a:ext cx="0" cy="639172"/>
            </a:xfrm>
            <a:prstGeom prst="line">
              <a:avLst/>
            </a:prstGeom>
            <a:ln w="41775" cap="flat">
              <a:solidFill>
                <a:srgbClr val="000000"/>
              </a:solidFill>
              <a:prstDash val="solid"/>
              <a:headEnd type="none" w="sm" len="sm"/>
              <a:tailEnd type="none" w="sm" len="sm"/>
            </a:ln>
          </p:spPr>
        </p:sp>
      </p:grpSp>
      <p:grpSp>
        <p:nvGrpSpPr>
          <p:cNvPr id="44" name="Group 44"/>
          <p:cNvGrpSpPr/>
          <p:nvPr/>
        </p:nvGrpSpPr>
        <p:grpSpPr>
          <a:xfrm>
            <a:off x="659665" y="1759798"/>
            <a:ext cx="7840383" cy="3210979"/>
            <a:chOff x="0" y="0"/>
            <a:chExt cx="2064957" cy="845690"/>
          </a:xfrm>
        </p:grpSpPr>
        <p:sp>
          <p:nvSpPr>
            <p:cNvPr id="45" name="Freeform 45"/>
            <p:cNvSpPr/>
            <p:nvPr/>
          </p:nvSpPr>
          <p:spPr>
            <a:xfrm>
              <a:off x="0" y="0"/>
              <a:ext cx="2064957" cy="845690"/>
            </a:xfrm>
            <a:custGeom>
              <a:avLst/>
              <a:gdLst/>
              <a:ahLst/>
              <a:cxnLst/>
              <a:rect l="l" t="t" r="r" b="b"/>
              <a:pathLst>
                <a:path w="2064957" h="845690">
                  <a:moveTo>
                    <a:pt x="50360" y="0"/>
                  </a:moveTo>
                  <a:lnTo>
                    <a:pt x="2014597" y="0"/>
                  </a:lnTo>
                  <a:cubicBezTo>
                    <a:pt x="2042410" y="0"/>
                    <a:pt x="2064957" y="22547"/>
                    <a:pt x="2064957" y="50360"/>
                  </a:cubicBezTo>
                  <a:lnTo>
                    <a:pt x="2064957" y="795331"/>
                  </a:lnTo>
                  <a:cubicBezTo>
                    <a:pt x="2064957" y="808687"/>
                    <a:pt x="2059651" y="821496"/>
                    <a:pt x="2050207" y="830940"/>
                  </a:cubicBezTo>
                  <a:cubicBezTo>
                    <a:pt x="2040762" y="840384"/>
                    <a:pt x="2027953" y="845690"/>
                    <a:pt x="2014597" y="845690"/>
                  </a:cubicBezTo>
                  <a:lnTo>
                    <a:pt x="50360" y="845690"/>
                  </a:lnTo>
                  <a:cubicBezTo>
                    <a:pt x="22547" y="845690"/>
                    <a:pt x="0" y="823143"/>
                    <a:pt x="0" y="795331"/>
                  </a:cubicBezTo>
                  <a:lnTo>
                    <a:pt x="0" y="50360"/>
                  </a:lnTo>
                  <a:cubicBezTo>
                    <a:pt x="0" y="22547"/>
                    <a:pt x="22547" y="0"/>
                    <a:pt x="50360" y="0"/>
                  </a:cubicBezTo>
                  <a:close/>
                </a:path>
              </a:pathLst>
            </a:custGeom>
            <a:solidFill>
              <a:srgbClr val="454545">
                <a:alpha val="49804"/>
              </a:srgbClr>
            </a:solidFill>
          </p:spPr>
        </p:sp>
        <p:sp>
          <p:nvSpPr>
            <p:cNvPr id="46" name="TextBox 46"/>
            <p:cNvSpPr txBox="1"/>
            <p:nvPr/>
          </p:nvSpPr>
          <p:spPr>
            <a:xfrm>
              <a:off x="0" y="-85725"/>
              <a:ext cx="2064957" cy="931415"/>
            </a:xfrm>
            <a:prstGeom prst="rect">
              <a:avLst/>
            </a:prstGeom>
          </p:spPr>
          <p:txBody>
            <a:bodyPr lIns="50800" tIns="50800" rIns="50800" bIns="50800" rtlCol="0" anchor="ctr"/>
            <a:lstStyle/>
            <a:p>
              <a:pPr algn="ctr">
                <a:lnSpc>
                  <a:spcPts val="2927"/>
                </a:lnSpc>
              </a:pPr>
              <a:endParaRPr/>
            </a:p>
          </p:txBody>
        </p:sp>
      </p:grpSp>
      <p:sp>
        <p:nvSpPr>
          <p:cNvPr id="47" name="Freeform 47"/>
          <p:cNvSpPr/>
          <p:nvPr/>
        </p:nvSpPr>
        <p:spPr>
          <a:xfrm flipH="1">
            <a:off x="-160923" y="4462401"/>
            <a:ext cx="2418361" cy="1249964"/>
          </a:xfrm>
          <a:custGeom>
            <a:avLst/>
            <a:gdLst/>
            <a:ahLst/>
            <a:cxnLst/>
            <a:rect l="l" t="t" r="r" b="b"/>
            <a:pathLst>
              <a:path w="2418361" h="1249964">
                <a:moveTo>
                  <a:pt x="2418361" y="0"/>
                </a:moveTo>
                <a:lnTo>
                  <a:pt x="0" y="0"/>
                </a:lnTo>
                <a:lnTo>
                  <a:pt x="0" y="1249963"/>
                </a:lnTo>
                <a:lnTo>
                  <a:pt x="2418361" y="1249963"/>
                </a:lnTo>
                <a:lnTo>
                  <a:pt x="2418361" y="0"/>
                </a:lnTo>
                <a:close/>
              </a:path>
            </a:pathLst>
          </a:custGeom>
          <a:blipFill>
            <a:blip r:embed="rId5"/>
            <a:stretch>
              <a:fillRect l="-11029" t="-147413" b="-134477"/>
            </a:stretch>
          </a:blipFill>
        </p:spPr>
      </p:sp>
      <p:sp>
        <p:nvSpPr>
          <p:cNvPr id="48" name="Freeform 48"/>
          <p:cNvSpPr/>
          <p:nvPr/>
        </p:nvSpPr>
        <p:spPr>
          <a:xfrm>
            <a:off x="6968181" y="1134816"/>
            <a:ext cx="2418361" cy="1249964"/>
          </a:xfrm>
          <a:custGeom>
            <a:avLst/>
            <a:gdLst/>
            <a:ahLst/>
            <a:cxnLst/>
            <a:rect l="l" t="t" r="r" b="b"/>
            <a:pathLst>
              <a:path w="2418361" h="1249964">
                <a:moveTo>
                  <a:pt x="0" y="0"/>
                </a:moveTo>
                <a:lnTo>
                  <a:pt x="2418361" y="0"/>
                </a:lnTo>
                <a:lnTo>
                  <a:pt x="2418361" y="1249964"/>
                </a:lnTo>
                <a:lnTo>
                  <a:pt x="0" y="1249964"/>
                </a:lnTo>
                <a:lnTo>
                  <a:pt x="0" y="0"/>
                </a:lnTo>
                <a:close/>
              </a:path>
            </a:pathLst>
          </a:custGeom>
          <a:blipFill>
            <a:blip r:embed="rId5"/>
            <a:stretch>
              <a:fillRect l="-11029" t="-147413" b="-134477"/>
            </a:stretch>
          </a:blipFill>
        </p:spPr>
      </p:sp>
      <p:sp>
        <p:nvSpPr>
          <p:cNvPr id="49" name="TextBox 49"/>
          <p:cNvSpPr txBox="1"/>
          <p:nvPr/>
        </p:nvSpPr>
        <p:spPr>
          <a:xfrm>
            <a:off x="659665" y="2104050"/>
            <a:ext cx="7840383" cy="2417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Controle: condições ambientais atuais;</a:t>
            </a:r>
          </a:p>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Cenário brando: +1,5 °C e +200 ppm de CO₂;</a:t>
            </a:r>
          </a:p>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Cenário intermediário: +2,5 °C e +400 ppm de CO₂;</a:t>
            </a:r>
          </a:p>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Cenário extremo: +4,5 °C e +850 ppm de CO₂.</a:t>
            </a:r>
          </a:p>
        </p:txBody>
      </p:sp>
      <p:sp>
        <p:nvSpPr>
          <p:cNvPr id="50" name="Freeform 50"/>
          <p:cNvSpPr/>
          <p:nvPr/>
        </p:nvSpPr>
        <p:spPr>
          <a:xfrm>
            <a:off x="11392401" y="4791859"/>
            <a:ext cx="4737636" cy="4147471"/>
          </a:xfrm>
          <a:custGeom>
            <a:avLst/>
            <a:gdLst/>
            <a:ahLst/>
            <a:cxnLst/>
            <a:rect l="l" t="t" r="r" b="b"/>
            <a:pathLst>
              <a:path w="4737636" h="4147471">
                <a:moveTo>
                  <a:pt x="0" y="0"/>
                </a:moveTo>
                <a:lnTo>
                  <a:pt x="4737636" y="0"/>
                </a:lnTo>
                <a:lnTo>
                  <a:pt x="4737636" y="4147472"/>
                </a:lnTo>
                <a:lnTo>
                  <a:pt x="0" y="4147472"/>
                </a:lnTo>
                <a:lnTo>
                  <a:pt x="0" y="0"/>
                </a:lnTo>
                <a:close/>
              </a:path>
            </a:pathLst>
          </a:custGeom>
          <a:blipFill>
            <a:blip r:embed="rId6"/>
            <a:stretch>
              <a:fillRect l="-4654" t="-49738" r="-1128" b="-11376"/>
            </a:stretch>
          </a:blipFill>
          <a:ln w="47625" cap="sq">
            <a:solidFill>
              <a:srgbClr val="000000"/>
            </a:solidFill>
            <a:prstDash val="solid"/>
            <a:miter/>
          </a:ln>
        </p:spPr>
      </p:sp>
      <p:sp>
        <p:nvSpPr>
          <p:cNvPr id="51" name="TextBox 51"/>
          <p:cNvSpPr txBox="1"/>
          <p:nvPr/>
        </p:nvSpPr>
        <p:spPr>
          <a:xfrm>
            <a:off x="10669224" y="8954064"/>
            <a:ext cx="6183991" cy="1236980"/>
          </a:xfrm>
          <a:prstGeom prst="rect">
            <a:avLst/>
          </a:prstGeom>
        </p:spPr>
        <p:txBody>
          <a:bodyPr lIns="0" tIns="0" rIns="0" bIns="0" rtlCol="0" anchor="t">
            <a:spAutoFit/>
          </a:bodyPr>
          <a:lstStyle/>
          <a:p>
            <a:pPr algn="l">
              <a:lnSpc>
                <a:spcPts val="3220"/>
              </a:lnSpc>
            </a:pPr>
            <a:r>
              <a:rPr lang="en-US" sz="2300" b="1">
                <a:solidFill>
                  <a:srgbClr val="000000"/>
                </a:solidFill>
                <a:latin typeface="Arial MT Pro Bold"/>
                <a:ea typeface="Arial MT Pro Bold"/>
                <a:cs typeface="Arial MT Pro Bold"/>
                <a:sym typeface="Arial MT Pro Bold"/>
              </a:rPr>
              <a:t>Figura 3:</a:t>
            </a:r>
            <a:r>
              <a:rPr lang="en-US" sz="2300">
                <a:solidFill>
                  <a:srgbClr val="000000"/>
                </a:solidFill>
                <a:latin typeface="Arial MT Pro"/>
                <a:ea typeface="Arial MT Pro"/>
                <a:cs typeface="Arial MT Pro"/>
                <a:sym typeface="Arial MT Pro"/>
              </a:rPr>
              <a:t>Indivíduos recém eclodidos divididos em um grupo de 20 indivíduos. Foto: Patrick Viana.</a:t>
            </a:r>
          </a:p>
        </p:txBody>
      </p:sp>
      <p:sp>
        <p:nvSpPr>
          <p:cNvPr id="52" name="TextBox 52"/>
          <p:cNvSpPr txBox="1"/>
          <p:nvPr/>
        </p:nvSpPr>
        <p:spPr>
          <a:xfrm>
            <a:off x="659665" y="6556858"/>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Período de 6 meses de permanência nas salas</a:t>
            </a:r>
          </a:p>
        </p:txBody>
      </p:sp>
      <p:sp>
        <p:nvSpPr>
          <p:cNvPr id="53" name="Freeform 53"/>
          <p:cNvSpPr/>
          <p:nvPr/>
        </p:nvSpPr>
        <p:spPr>
          <a:xfrm>
            <a:off x="6968181" y="5293204"/>
            <a:ext cx="2418361" cy="1249964"/>
          </a:xfrm>
          <a:custGeom>
            <a:avLst/>
            <a:gdLst/>
            <a:ahLst/>
            <a:cxnLst/>
            <a:rect l="l" t="t" r="r" b="b"/>
            <a:pathLst>
              <a:path w="2418361" h="1249964">
                <a:moveTo>
                  <a:pt x="0" y="0"/>
                </a:moveTo>
                <a:lnTo>
                  <a:pt x="2418361" y="0"/>
                </a:lnTo>
                <a:lnTo>
                  <a:pt x="2418361" y="1249964"/>
                </a:lnTo>
                <a:lnTo>
                  <a:pt x="0" y="1249964"/>
                </a:lnTo>
                <a:lnTo>
                  <a:pt x="0" y="0"/>
                </a:lnTo>
                <a:close/>
              </a:path>
            </a:pathLst>
          </a:custGeom>
          <a:blipFill>
            <a:blip r:embed="rId5"/>
            <a:stretch>
              <a:fillRect l="-11029" t="-147413" b="-134477"/>
            </a:stretch>
          </a:blipFill>
        </p:spPr>
      </p:sp>
      <p:sp>
        <p:nvSpPr>
          <p:cNvPr id="54" name="Freeform 54"/>
          <p:cNvSpPr/>
          <p:nvPr/>
        </p:nvSpPr>
        <p:spPr>
          <a:xfrm flipH="1">
            <a:off x="-160923" y="8538561"/>
            <a:ext cx="2418361" cy="1249964"/>
          </a:xfrm>
          <a:custGeom>
            <a:avLst/>
            <a:gdLst/>
            <a:ahLst/>
            <a:cxnLst/>
            <a:rect l="l" t="t" r="r" b="b"/>
            <a:pathLst>
              <a:path w="2418361" h="1249964">
                <a:moveTo>
                  <a:pt x="2418361" y="0"/>
                </a:moveTo>
                <a:lnTo>
                  <a:pt x="0" y="0"/>
                </a:lnTo>
                <a:lnTo>
                  <a:pt x="0" y="1249964"/>
                </a:lnTo>
                <a:lnTo>
                  <a:pt x="2418361" y="1249964"/>
                </a:lnTo>
                <a:lnTo>
                  <a:pt x="2418361" y="0"/>
                </a:lnTo>
                <a:close/>
              </a:path>
            </a:pathLst>
          </a:custGeom>
          <a:blipFill>
            <a:blip r:embed="rId5"/>
            <a:stretch>
              <a:fillRect l="-11029" t="-147413" b="-134477"/>
            </a:stretch>
          </a:blipFill>
        </p:spPr>
      </p:sp>
      <p:sp>
        <p:nvSpPr>
          <p:cNvPr id="55" name="TextBox 55"/>
          <p:cNvSpPr txBox="1"/>
          <p:nvPr/>
        </p:nvSpPr>
        <p:spPr>
          <a:xfrm>
            <a:off x="659665" y="7675220"/>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Oportunidade experimental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3" name="Freeform 3"/>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4" name="Freeform 4"/>
          <p:cNvSpPr/>
          <p:nvPr/>
        </p:nvSpPr>
        <p:spPr>
          <a:xfrm>
            <a:off x="10549276" y="1699919"/>
            <a:ext cx="6145129" cy="6887162"/>
          </a:xfrm>
          <a:custGeom>
            <a:avLst/>
            <a:gdLst/>
            <a:ahLst/>
            <a:cxnLst/>
            <a:rect l="l" t="t" r="r" b="b"/>
            <a:pathLst>
              <a:path w="6145129" h="6887162">
                <a:moveTo>
                  <a:pt x="0" y="0"/>
                </a:moveTo>
                <a:lnTo>
                  <a:pt x="6145129" y="0"/>
                </a:lnTo>
                <a:lnTo>
                  <a:pt x="6145129" y="6887162"/>
                </a:lnTo>
                <a:lnTo>
                  <a:pt x="0" y="6887162"/>
                </a:lnTo>
                <a:lnTo>
                  <a:pt x="0" y="0"/>
                </a:lnTo>
                <a:close/>
              </a:path>
            </a:pathLst>
          </a:custGeom>
          <a:blipFill>
            <a:blip r:embed="rId3"/>
            <a:stretch>
              <a:fillRect r="-66654"/>
            </a:stretch>
          </a:blipFill>
          <a:ln w="47625" cap="sq">
            <a:solidFill>
              <a:srgbClr val="000000"/>
            </a:solidFill>
            <a:prstDash val="solid"/>
            <a:miter/>
          </a:ln>
        </p:spPr>
      </p:sp>
      <p:sp>
        <p:nvSpPr>
          <p:cNvPr id="5" name="TextBox 5"/>
          <p:cNvSpPr txBox="1"/>
          <p:nvPr/>
        </p:nvSpPr>
        <p:spPr>
          <a:xfrm>
            <a:off x="17259300" y="9115425"/>
            <a:ext cx="896761"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8.</a:t>
            </a:r>
          </a:p>
        </p:txBody>
      </p:sp>
      <p:sp>
        <p:nvSpPr>
          <p:cNvPr id="6" name="TextBox 6"/>
          <p:cNvSpPr txBox="1"/>
          <p:nvPr/>
        </p:nvSpPr>
        <p:spPr>
          <a:xfrm>
            <a:off x="713422" y="141576"/>
            <a:ext cx="4487466" cy="1152525"/>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Metodologia</a:t>
            </a:r>
          </a:p>
        </p:txBody>
      </p:sp>
      <p:sp>
        <p:nvSpPr>
          <p:cNvPr id="7" name="TextBox 7"/>
          <p:cNvSpPr txBox="1"/>
          <p:nvPr/>
        </p:nvSpPr>
        <p:spPr>
          <a:xfrm>
            <a:off x="10549276" y="8686483"/>
            <a:ext cx="6145129" cy="836930"/>
          </a:xfrm>
          <a:prstGeom prst="rect">
            <a:avLst/>
          </a:prstGeom>
        </p:spPr>
        <p:txBody>
          <a:bodyPr lIns="0" tIns="0" rIns="0" bIns="0" rtlCol="0" anchor="t">
            <a:spAutoFit/>
          </a:bodyPr>
          <a:lstStyle/>
          <a:p>
            <a:pPr algn="l">
              <a:lnSpc>
                <a:spcPts val="3220"/>
              </a:lnSpc>
            </a:pPr>
            <a:r>
              <a:rPr lang="en-US" sz="2300" b="1">
                <a:solidFill>
                  <a:srgbClr val="000000"/>
                </a:solidFill>
                <a:latin typeface="Arial MT Pro Bold"/>
                <a:ea typeface="Arial MT Pro Bold"/>
                <a:cs typeface="Arial MT Pro Bold"/>
                <a:sym typeface="Arial MT Pro Bold"/>
              </a:rPr>
              <a:t>Figura 4:</a:t>
            </a:r>
            <a:r>
              <a:rPr lang="en-US" sz="2300">
                <a:solidFill>
                  <a:srgbClr val="000000"/>
                </a:solidFill>
                <a:latin typeface="Arial MT Pro"/>
                <a:ea typeface="Arial MT Pro"/>
                <a:cs typeface="Arial MT Pro"/>
                <a:sym typeface="Arial MT Pro"/>
              </a:rPr>
              <a:t>Grupo de indivíduos sendo gravados acusticamente. Foto: Gabriel Jorgewich-Cohen.</a:t>
            </a:r>
          </a:p>
        </p:txBody>
      </p:sp>
      <p:grpSp>
        <p:nvGrpSpPr>
          <p:cNvPr id="8" name="Group 8"/>
          <p:cNvGrpSpPr/>
          <p:nvPr/>
        </p:nvGrpSpPr>
        <p:grpSpPr>
          <a:xfrm>
            <a:off x="640108" y="3538010"/>
            <a:ext cx="7840383" cy="3210979"/>
            <a:chOff x="0" y="0"/>
            <a:chExt cx="2064957" cy="845690"/>
          </a:xfrm>
        </p:grpSpPr>
        <p:sp>
          <p:nvSpPr>
            <p:cNvPr id="9" name="Freeform 9"/>
            <p:cNvSpPr/>
            <p:nvPr/>
          </p:nvSpPr>
          <p:spPr>
            <a:xfrm>
              <a:off x="0" y="0"/>
              <a:ext cx="2064957" cy="845690"/>
            </a:xfrm>
            <a:custGeom>
              <a:avLst/>
              <a:gdLst/>
              <a:ahLst/>
              <a:cxnLst/>
              <a:rect l="l" t="t" r="r" b="b"/>
              <a:pathLst>
                <a:path w="2064957" h="845690">
                  <a:moveTo>
                    <a:pt x="50360" y="0"/>
                  </a:moveTo>
                  <a:lnTo>
                    <a:pt x="2014597" y="0"/>
                  </a:lnTo>
                  <a:cubicBezTo>
                    <a:pt x="2042410" y="0"/>
                    <a:pt x="2064957" y="22547"/>
                    <a:pt x="2064957" y="50360"/>
                  </a:cubicBezTo>
                  <a:lnTo>
                    <a:pt x="2064957" y="795331"/>
                  </a:lnTo>
                  <a:cubicBezTo>
                    <a:pt x="2064957" y="808687"/>
                    <a:pt x="2059651" y="821496"/>
                    <a:pt x="2050207" y="830940"/>
                  </a:cubicBezTo>
                  <a:cubicBezTo>
                    <a:pt x="2040762" y="840384"/>
                    <a:pt x="2027953" y="845690"/>
                    <a:pt x="2014597" y="845690"/>
                  </a:cubicBezTo>
                  <a:lnTo>
                    <a:pt x="50360" y="845690"/>
                  </a:lnTo>
                  <a:cubicBezTo>
                    <a:pt x="22547" y="845690"/>
                    <a:pt x="0" y="823143"/>
                    <a:pt x="0" y="795331"/>
                  </a:cubicBezTo>
                  <a:lnTo>
                    <a:pt x="0" y="50360"/>
                  </a:lnTo>
                  <a:cubicBezTo>
                    <a:pt x="0" y="22547"/>
                    <a:pt x="22547" y="0"/>
                    <a:pt x="50360" y="0"/>
                  </a:cubicBezTo>
                  <a:close/>
                </a:path>
              </a:pathLst>
            </a:custGeom>
            <a:solidFill>
              <a:srgbClr val="454545">
                <a:alpha val="49804"/>
              </a:srgbClr>
            </a:solidFill>
          </p:spPr>
        </p:sp>
        <p:sp>
          <p:nvSpPr>
            <p:cNvPr id="10" name="TextBox 10"/>
            <p:cNvSpPr txBox="1"/>
            <p:nvPr/>
          </p:nvSpPr>
          <p:spPr>
            <a:xfrm>
              <a:off x="0" y="-85725"/>
              <a:ext cx="2064957" cy="931415"/>
            </a:xfrm>
            <a:prstGeom prst="rect">
              <a:avLst/>
            </a:prstGeom>
          </p:spPr>
          <p:txBody>
            <a:bodyPr lIns="50800" tIns="50800" rIns="50800" bIns="50800" rtlCol="0" anchor="ctr"/>
            <a:lstStyle/>
            <a:p>
              <a:pPr algn="ctr">
                <a:lnSpc>
                  <a:spcPts val="2927"/>
                </a:lnSpc>
              </a:pPr>
              <a:endParaRPr/>
            </a:p>
          </p:txBody>
        </p:sp>
      </p:grpSp>
      <p:sp>
        <p:nvSpPr>
          <p:cNvPr id="11" name="TextBox 11"/>
          <p:cNvSpPr txBox="1"/>
          <p:nvPr/>
        </p:nvSpPr>
        <p:spPr>
          <a:xfrm>
            <a:off x="640108" y="4833677"/>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Gravações externas: Em um ambiente comum.</a:t>
            </a:r>
          </a:p>
        </p:txBody>
      </p:sp>
      <p:sp>
        <p:nvSpPr>
          <p:cNvPr id="12" name="Freeform 12"/>
          <p:cNvSpPr/>
          <p:nvPr/>
        </p:nvSpPr>
        <p:spPr>
          <a:xfrm flipH="1">
            <a:off x="-180480" y="6240613"/>
            <a:ext cx="2418361" cy="1249964"/>
          </a:xfrm>
          <a:custGeom>
            <a:avLst/>
            <a:gdLst/>
            <a:ahLst/>
            <a:cxnLst/>
            <a:rect l="l" t="t" r="r" b="b"/>
            <a:pathLst>
              <a:path w="2418361" h="1249964">
                <a:moveTo>
                  <a:pt x="2418360" y="0"/>
                </a:moveTo>
                <a:lnTo>
                  <a:pt x="0" y="0"/>
                </a:lnTo>
                <a:lnTo>
                  <a:pt x="0" y="1249964"/>
                </a:lnTo>
                <a:lnTo>
                  <a:pt x="2418360" y="1249964"/>
                </a:lnTo>
                <a:lnTo>
                  <a:pt x="2418360" y="0"/>
                </a:lnTo>
                <a:close/>
              </a:path>
            </a:pathLst>
          </a:custGeom>
          <a:blipFill>
            <a:blip r:embed="rId4"/>
            <a:stretch>
              <a:fillRect l="-11029" t="-147413" b="-134477"/>
            </a:stretch>
          </a:blipFill>
        </p:spPr>
      </p:sp>
      <p:sp>
        <p:nvSpPr>
          <p:cNvPr id="13" name="Freeform 13"/>
          <p:cNvSpPr/>
          <p:nvPr/>
        </p:nvSpPr>
        <p:spPr>
          <a:xfrm>
            <a:off x="6948624" y="2913029"/>
            <a:ext cx="2418361" cy="1249964"/>
          </a:xfrm>
          <a:custGeom>
            <a:avLst/>
            <a:gdLst/>
            <a:ahLst/>
            <a:cxnLst/>
            <a:rect l="l" t="t" r="r" b="b"/>
            <a:pathLst>
              <a:path w="2418361" h="1249964">
                <a:moveTo>
                  <a:pt x="0" y="0"/>
                </a:moveTo>
                <a:lnTo>
                  <a:pt x="2418361" y="0"/>
                </a:lnTo>
                <a:lnTo>
                  <a:pt x="2418361" y="1249963"/>
                </a:lnTo>
                <a:lnTo>
                  <a:pt x="0" y="1249963"/>
                </a:lnTo>
                <a:lnTo>
                  <a:pt x="0" y="0"/>
                </a:lnTo>
                <a:close/>
              </a:path>
            </a:pathLst>
          </a:custGeom>
          <a:blipFill>
            <a:blip r:embed="rId4"/>
            <a:stretch>
              <a:fillRect l="-11029" t="-147413" b="-134477"/>
            </a:stretch>
          </a:blipFill>
        </p:spPr>
      </p:sp>
      <p:sp>
        <p:nvSpPr>
          <p:cNvPr id="14" name="TextBox 14"/>
          <p:cNvSpPr txBox="1"/>
          <p:nvPr/>
        </p:nvSpPr>
        <p:spPr>
          <a:xfrm>
            <a:off x="640108" y="4261093"/>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Gravações internas: Nas salas aclimatadas.</a:t>
            </a:r>
          </a:p>
        </p:txBody>
      </p:sp>
      <p:sp>
        <p:nvSpPr>
          <p:cNvPr id="15" name="AutoShape 15"/>
          <p:cNvSpPr/>
          <p:nvPr/>
        </p:nvSpPr>
        <p:spPr>
          <a:xfrm>
            <a:off x="987387" y="5142878"/>
            <a:ext cx="0" cy="411262"/>
          </a:xfrm>
          <a:prstGeom prst="line">
            <a:avLst/>
          </a:prstGeom>
          <a:ln w="38100" cap="flat">
            <a:solidFill>
              <a:srgbClr val="000000"/>
            </a:solidFill>
            <a:prstDash val="solid"/>
            <a:headEnd type="none" w="sm" len="sm"/>
            <a:tailEnd type="none" w="sm" len="sm"/>
          </a:ln>
        </p:spPr>
      </p:sp>
      <p:sp>
        <p:nvSpPr>
          <p:cNvPr id="16" name="TextBox 16"/>
          <p:cNvSpPr txBox="1"/>
          <p:nvPr/>
        </p:nvSpPr>
        <p:spPr>
          <a:xfrm>
            <a:off x="640108" y="5408433"/>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Identificar possivel reversão nas salas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grpSp>
        <p:nvGrpSpPr>
          <p:cNvPr id="2" name="Group 2"/>
          <p:cNvGrpSpPr/>
          <p:nvPr/>
        </p:nvGrpSpPr>
        <p:grpSpPr>
          <a:xfrm>
            <a:off x="640108" y="3538010"/>
            <a:ext cx="7840383" cy="3210979"/>
            <a:chOff x="0" y="0"/>
            <a:chExt cx="2064957" cy="845690"/>
          </a:xfrm>
        </p:grpSpPr>
        <p:sp>
          <p:nvSpPr>
            <p:cNvPr id="3" name="Freeform 3"/>
            <p:cNvSpPr/>
            <p:nvPr/>
          </p:nvSpPr>
          <p:spPr>
            <a:xfrm>
              <a:off x="0" y="0"/>
              <a:ext cx="2064957" cy="845690"/>
            </a:xfrm>
            <a:custGeom>
              <a:avLst/>
              <a:gdLst/>
              <a:ahLst/>
              <a:cxnLst/>
              <a:rect l="l" t="t" r="r" b="b"/>
              <a:pathLst>
                <a:path w="2064957" h="845690">
                  <a:moveTo>
                    <a:pt x="50360" y="0"/>
                  </a:moveTo>
                  <a:lnTo>
                    <a:pt x="2014597" y="0"/>
                  </a:lnTo>
                  <a:cubicBezTo>
                    <a:pt x="2042410" y="0"/>
                    <a:pt x="2064957" y="22547"/>
                    <a:pt x="2064957" y="50360"/>
                  </a:cubicBezTo>
                  <a:lnTo>
                    <a:pt x="2064957" y="795331"/>
                  </a:lnTo>
                  <a:cubicBezTo>
                    <a:pt x="2064957" y="808687"/>
                    <a:pt x="2059651" y="821496"/>
                    <a:pt x="2050207" y="830940"/>
                  </a:cubicBezTo>
                  <a:cubicBezTo>
                    <a:pt x="2040762" y="840384"/>
                    <a:pt x="2027953" y="845690"/>
                    <a:pt x="2014597" y="845690"/>
                  </a:cubicBezTo>
                  <a:lnTo>
                    <a:pt x="50360" y="845690"/>
                  </a:lnTo>
                  <a:cubicBezTo>
                    <a:pt x="22547" y="845690"/>
                    <a:pt x="0" y="823143"/>
                    <a:pt x="0" y="795331"/>
                  </a:cubicBezTo>
                  <a:lnTo>
                    <a:pt x="0" y="50360"/>
                  </a:lnTo>
                  <a:cubicBezTo>
                    <a:pt x="0" y="22547"/>
                    <a:pt x="22547" y="0"/>
                    <a:pt x="50360" y="0"/>
                  </a:cubicBezTo>
                  <a:close/>
                </a:path>
              </a:pathLst>
            </a:custGeom>
            <a:solidFill>
              <a:srgbClr val="454545">
                <a:alpha val="49804"/>
              </a:srgbClr>
            </a:solidFill>
          </p:spPr>
        </p:sp>
        <p:sp>
          <p:nvSpPr>
            <p:cNvPr id="4" name="TextBox 4"/>
            <p:cNvSpPr txBox="1"/>
            <p:nvPr/>
          </p:nvSpPr>
          <p:spPr>
            <a:xfrm>
              <a:off x="0" y="-85725"/>
              <a:ext cx="2064957" cy="931415"/>
            </a:xfrm>
            <a:prstGeom prst="rect">
              <a:avLst/>
            </a:prstGeom>
          </p:spPr>
          <p:txBody>
            <a:bodyPr lIns="50800" tIns="50800" rIns="50800" bIns="50800" rtlCol="0" anchor="ctr"/>
            <a:lstStyle/>
            <a:p>
              <a:pPr algn="ctr">
                <a:lnSpc>
                  <a:spcPts val="2927"/>
                </a:lnSpc>
              </a:pPr>
              <a:endParaRPr/>
            </a:p>
          </p:txBody>
        </p:sp>
      </p:grpSp>
      <p:sp>
        <p:nvSpPr>
          <p:cNvPr id="5" name="Freeform 5"/>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6" name="Freeform 6"/>
          <p:cNvSpPr/>
          <p:nvPr/>
        </p:nvSpPr>
        <p:spPr>
          <a:xfrm flipH="1">
            <a:off x="-180480" y="6240613"/>
            <a:ext cx="2418361" cy="1249964"/>
          </a:xfrm>
          <a:custGeom>
            <a:avLst/>
            <a:gdLst/>
            <a:ahLst/>
            <a:cxnLst/>
            <a:rect l="l" t="t" r="r" b="b"/>
            <a:pathLst>
              <a:path w="2418361" h="1249964">
                <a:moveTo>
                  <a:pt x="2418360" y="0"/>
                </a:moveTo>
                <a:lnTo>
                  <a:pt x="0" y="0"/>
                </a:lnTo>
                <a:lnTo>
                  <a:pt x="0" y="1249964"/>
                </a:lnTo>
                <a:lnTo>
                  <a:pt x="2418360" y="1249964"/>
                </a:lnTo>
                <a:lnTo>
                  <a:pt x="2418360" y="0"/>
                </a:lnTo>
                <a:close/>
              </a:path>
            </a:pathLst>
          </a:custGeom>
          <a:blipFill>
            <a:blip r:embed="rId3"/>
            <a:stretch>
              <a:fillRect l="-11029" t="-147413" b="-134477"/>
            </a:stretch>
          </a:blipFill>
        </p:spPr>
      </p:sp>
      <p:sp>
        <p:nvSpPr>
          <p:cNvPr id="7" name="Freeform 7"/>
          <p:cNvSpPr/>
          <p:nvPr/>
        </p:nvSpPr>
        <p:spPr>
          <a:xfrm>
            <a:off x="6948624" y="2913029"/>
            <a:ext cx="2418361" cy="1249964"/>
          </a:xfrm>
          <a:custGeom>
            <a:avLst/>
            <a:gdLst/>
            <a:ahLst/>
            <a:cxnLst/>
            <a:rect l="l" t="t" r="r" b="b"/>
            <a:pathLst>
              <a:path w="2418361" h="1249964">
                <a:moveTo>
                  <a:pt x="0" y="0"/>
                </a:moveTo>
                <a:lnTo>
                  <a:pt x="2418361" y="0"/>
                </a:lnTo>
                <a:lnTo>
                  <a:pt x="2418361" y="1249963"/>
                </a:lnTo>
                <a:lnTo>
                  <a:pt x="0" y="1249963"/>
                </a:lnTo>
                <a:lnTo>
                  <a:pt x="0" y="0"/>
                </a:lnTo>
                <a:close/>
              </a:path>
            </a:pathLst>
          </a:custGeom>
          <a:blipFill>
            <a:blip r:embed="rId3"/>
            <a:stretch>
              <a:fillRect l="-11029" t="-147413" b="-134477"/>
            </a:stretch>
          </a:blipFill>
        </p:spPr>
      </p:sp>
      <p:sp>
        <p:nvSpPr>
          <p:cNvPr id="8" name="Freeform 8"/>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9" name="Freeform 9"/>
          <p:cNvSpPr/>
          <p:nvPr/>
        </p:nvSpPr>
        <p:spPr>
          <a:xfrm>
            <a:off x="9538265" y="397216"/>
            <a:ext cx="7721035" cy="4746284"/>
          </a:xfrm>
          <a:custGeom>
            <a:avLst/>
            <a:gdLst/>
            <a:ahLst/>
            <a:cxnLst/>
            <a:rect l="l" t="t" r="r" b="b"/>
            <a:pathLst>
              <a:path w="7721035" h="4746284">
                <a:moveTo>
                  <a:pt x="0" y="0"/>
                </a:moveTo>
                <a:lnTo>
                  <a:pt x="7721035" y="0"/>
                </a:lnTo>
                <a:lnTo>
                  <a:pt x="7721035" y="4746284"/>
                </a:lnTo>
                <a:lnTo>
                  <a:pt x="0" y="4746284"/>
                </a:lnTo>
                <a:lnTo>
                  <a:pt x="0" y="0"/>
                </a:lnTo>
                <a:close/>
              </a:path>
            </a:pathLst>
          </a:custGeom>
          <a:blipFill>
            <a:blip r:embed="rId4">
              <a:alphaModFix amt="0"/>
            </a:blip>
            <a:stretch>
              <a:fillRect l="-15371" t="-13471" b="-3829"/>
            </a:stretch>
          </a:blipFill>
          <a:ln w="47625" cap="sq">
            <a:solidFill>
              <a:srgbClr val="000000">
                <a:alpha val="0"/>
              </a:srgbClr>
            </a:solidFill>
            <a:prstDash val="solid"/>
            <a:miter/>
          </a:ln>
        </p:spPr>
      </p:sp>
      <p:sp>
        <p:nvSpPr>
          <p:cNvPr id="10" name="Freeform 10"/>
          <p:cNvSpPr/>
          <p:nvPr/>
        </p:nvSpPr>
        <p:spPr>
          <a:xfrm>
            <a:off x="9685777" y="379701"/>
            <a:ext cx="7573523" cy="4051835"/>
          </a:xfrm>
          <a:custGeom>
            <a:avLst/>
            <a:gdLst/>
            <a:ahLst/>
            <a:cxnLst/>
            <a:rect l="l" t="t" r="r" b="b"/>
            <a:pathLst>
              <a:path w="7573523" h="4051835">
                <a:moveTo>
                  <a:pt x="0" y="0"/>
                </a:moveTo>
                <a:lnTo>
                  <a:pt x="7573523" y="0"/>
                </a:lnTo>
                <a:lnTo>
                  <a:pt x="7573523" y="4051834"/>
                </a:lnTo>
                <a:lnTo>
                  <a:pt x="0" y="4051834"/>
                </a:lnTo>
                <a:lnTo>
                  <a:pt x="0" y="0"/>
                </a:lnTo>
                <a:close/>
              </a:path>
            </a:pathLst>
          </a:custGeom>
          <a:blipFill>
            <a:blip r:embed="rId5"/>
            <a:stretch>
              <a:fillRect/>
            </a:stretch>
          </a:blipFill>
          <a:ln w="47625" cap="sq">
            <a:solidFill>
              <a:srgbClr val="000000"/>
            </a:solidFill>
            <a:prstDash val="solid"/>
            <a:miter/>
          </a:ln>
        </p:spPr>
      </p:sp>
      <p:sp>
        <p:nvSpPr>
          <p:cNvPr id="11" name="Freeform 11"/>
          <p:cNvSpPr/>
          <p:nvPr/>
        </p:nvSpPr>
        <p:spPr>
          <a:xfrm>
            <a:off x="10280858" y="5043805"/>
            <a:ext cx="6383362" cy="3934208"/>
          </a:xfrm>
          <a:custGeom>
            <a:avLst/>
            <a:gdLst/>
            <a:ahLst/>
            <a:cxnLst/>
            <a:rect l="l" t="t" r="r" b="b"/>
            <a:pathLst>
              <a:path w="6383362" h="3934208">
                <a:moveTo>
                  <a:pt x="0" y="0"/>
                </a:moveTo>
                <a:lnTo>
                  <a:pt x="6383361" y="0"/>
                </a:lnTo>
                <a:lnTo>
                  <a:pt x="6383361" y="3934208"/>
                </a:lnTo>
                <a:lnTo>
                  <a:pt x="0" y="3934208"/>
                </a:lnTo>
                <a:lnTo>
                  <a:pt x="0" y="0"/>
                </a:lnTo>
                <a:close/>
              </a:path>
            </a:pathLst>
          </a:custGeom>
          <a:blipFill>
            <a:blip r:embed="rId6"/>
            <a:stretch>
              <a:fillRect l="-43456" t="-29714" r="-103054" b="-123391"/>
            </a:stretch>
          </a:blipFill>
          <a:ln w="47625" cap="sq">
            <a:solidFill>
              <a:srgbClr val="000000"/>
            </a:solidFill>
            <a:prstDash val="solid"/>
            <a:miter/>
          </a:ln>
        </p:spPr>
      </p:sp>
      <p:sp>
        <p:nvSpPr>
          <p:cNvPr id="12" name="TextBox 12"/>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9.</a:t>
            </a:r>
          </a:p>
        </p:txBody>
      </p:sp>
      <p:sp>
        <p:nvSpPr>
          <p:cNvPr id="13" name="TextBox 13"/>
          <p:cNvSpPr txBox="1"/>
          <p:nvPr/>
        </p:nvSpPr>
        <p:spPr>
          <a:xfrm>
            <a:off x="640108" y="4032205"/>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Triagem e anotações acústicas</a:t>
            </a:r>
          </a:p>
        </p:txBody>
      </p:sp>
      <p:sp>
        <p:nvSpPr>
          <p:cNvPr id="14" name="TextBox 14"/>
          <p:cNvSpPr txBox="1"/>
          <p:nvPr/>
        </p:nvSpPr>
        <p:spPr>
          <a:xfrm>
            <a:off x="713422" y="141576"/>
            <a:ext cx="4487466" cy="1152525"/>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Metodologia</a:t>
            </a:r>
          </a:p>
        </p:txBody>
      </p:sp>
      <p:sp>
        <p:nvSpPr>
          <p:cNvPr id="15" name="TextBox 15"/>
          <p:cNvSpPr txBox="1"/>
          <p:nvPr/>
        </p:nvSpPr>
        <p:spPr>
          <a:xfrm>
            <a:off x="9864165" y="4473575"/>
            <a:ext cx="7216748" cy="436880"/>
          </a:xfrm>
          <a:prstGeom prst="rect">
            <a:avLst/>
          </a:prstGeom>
        </p:spPr>
        <p:txBody>
          <a:bodyPr lIns="0" tIns="0" rIns="0" bIns="0" rtlCol="0" anchor="t">
            <a:spAutoFit/>
          </a:bodyPr>
          <a:lstStyle/>
          <a:p>
            <a:pPr algn="l">
              <a:lnSpc>
                <a:spcPts val="3220"/>
              </a:lnSpc>
            </a:pPr>
            <a:r>
              <a:rPr lang="en-US" sz="2300" b="1">
                <a:solidFill>
                  <a:srgbClr val="000000"/>
                </a:solidFill>
                <a:latin typeface="Arial MT Pro Bold"/>
                <a:ea typeface="Arial MT Pro Bold"/>
                <a:cs typeface="Arial MT Pro Bold"/>
                <a:sym typeface="Arial MT Pro Bold"/>
              </a:rPr>
              <a:t>Figura 5:</a:t>
            </a:r>
            <a:r>
              <a:rPr lang="en-US" sz="2300">
                <a:solidFill>
                  <a:srgbClr val="000000"/>
                </a:solidFill>
                <a:latin typeface="Arial MT Pro"/>
                <a:ea typeface="Arial MT Pro"/>
                <a:cs typeface="Arial MT Pro"/>
                <a:sym typeface="Arial MT Pro"/>
              </a:rPr>
              <a:t>Software Raven Pro 1.6. Foto: The Cornell lab</a:t>
            </a:r>
          </a:p>
        </p:txBody>
      </p:sp>
      <p:sp>
        <p:nvSpPr>
          <p:cNvPr id="16" name="TextBox 16"/>
          <p:cNvSpPr txBox="1"/>
          <p:nvPr/>
        </p:nvSpPr>
        <p:spPr>
          <a:xfrm>
            <a:off x="-3961060" y="9047798"/>
            <a:ext cx="14359963" cy="34480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Arial MT Pro"/>
                <a:ea typeface="Arial MT Pro"/>
                <a:cs typeface="Arial MT Pro"/>
                <a:sym typeface="Arial MT Pro"/>
              </a:rPr>
              <a:t> Ferrara et al., 2012;  Jorgewich -Cohen et al., 2024</a:t>
            </a:r>
          </a:p>
        </p:txBody>
      </p:sp>
      <p:sp>
        <p:nvSpPr>
          <p:cNvPr id="17" name="TextBox 17"/>
          <p:cNvSpPr txBox="1"/>
          <p:nvPr/>
        </p:nvSpPr>
        <p:spPr>
          <a:xfrm>
            <a:off x="9685777" y="9028748"/>
            <a:ext cx="7573523" cy="436880"/>
          </a:xfrm>
          <a:prstGeom prst="rect">
            <a:avLst/>
          </a:prstGeom>
        </p:spPr>
        <p:txBody>
          <a:bodyPr lIns="0" tIns="0" rIns="0" bIns="0" rtlCol="0" anchor="t">
            <a:spAutoFit/>
          </a:bodyPr>
          <a:lstStyle/>
          <a:p>
            <a:pPr algn="l">
              <a:lnSpc>
                <a:spcPts val="3220"/>
              </a:lnSpc>
            </a:pPr>
            <a:r>
              <a:rPr lang="en-US" sz="2300" b="1">
                <a:solidFill>
                  <a:srgbClr val="000000"/>
                </a:solidFill>
                <a:latin typeface="Arial MT Pro Bold"/>
                <a:ea typeface="Arial MT Pro Bold"/>
                <a:cs typeface="Arial MT Pro Bold"/>
                <a:sym typeface="Arial MT Pro Bold"/>
              </a:rPr>
              <a:t>Figura 6:</a:t>
            </a:r>
            <a:r>
              <a:rPr lang="en-US" sz="2300">
                <a:solidFill>
                  <a:srgbClr val="000000"/>
                </a:solidFill>
                <a:latin typeface="Arial MT Pro"/>
                <a:ea typeface="Arial MT Pro"/>
                <a:cs typeface="Arial MT Pro"/>
                <a:sym typeface="Arial MT Pro"/>
              </a:rPr>
              <a:t>Exemplo de Spectrograma. Foto: The Cornell lab</a:t>
            </a:r>
          </a:p>
        </p:txBody>
      </p:sp>
      <p:sp>
        <p:nvSpPr>
          <p:cNvPr id="18" name="TextBox 18"/>
          <p:cNvSpPr txBox="1"/>
          <p:nvPr/>
        </p:nvSpPr>
        <p:spPr>
          <a:xfrm>
            <a:off x="640108" y="5637321"/>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Categorizações das vocalizações</a:t>
            </a:r>
          </a:p>
        </p:txBody>
      </p:sp>
      <p:sp>
        <p:nvSpPr>
          <p:cNvPr id="19" name="TextBox 19"/>
          <p:cNvSpPr txBox="1"/>
          <p:nvPr/>
        </p:nvSpPr>
        <p:spPr>
          <a:xfrm>
            <a:off x="640108" y="4834763"/>
            <a:ext cx="7840383"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Espectrograma: Representação visual do som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grpSp>
        <p:nvGrpSpPr>
          <p:cNvPr id="2" name="Group 2"/>
          <p:cNvGrpSpPr/>
          <p:nvPr/>
        </p:nvGrpSpPr>
        <p:grpSpPr>
          <a:xfrm>
            <a:off x="6228882" y="656232"/>
            <a:ext cx="5907405" cy="651330"/>
            <a:chOff x="0" y="0"/>
            <a:chExt cx="1555860" cy="171544"/>
          </a:xfrm>
        </p:grpSpPr>
        <p:sp>
          <p:nvSpPr>
            <p:cNvPr id="3" name="Freeform 3"/>
            <p:cNvSpPr/>
            <p:nvPr/>
          </p:nvSpPr>
          <p:spPr>
            <a:xfrm>
              <a:off x="0" y="0"/>
              <a:ext cx="1555860" cy="171544"/>
            </a:xfrm>
            <a:custGeom>
              <a:avLst/>
              <a:gdLst/>
              <a:ahLst/>
              <a:cxnLst/>
              <a:rect l="l" t="t" r="r" b="b"/>
              <a:pathLst>
                <a:path w="1555860" h="171544">
                  <a:moveTo>
                    <a:pt x="66838" y="0"/>
                  </a:moveTo>
                  <a:lnTo>
                    <a:pt x="1489022" y="0"/>
                  </a:lnTo>
                  <a:cubicBezTo>
                    <a:pt x="1506749" y="0"/>
                    <a:pt x="1523749" y="7042"/>
                    <a:pt x="1536284" y="19576"/>
                  </a:cubicBezTo>
                  <a:cubicBezTo>
                    <a:pt x="1548818" y="32111"/>
                    <a:pt x="1555860" y="49111"/>
                    <a:pt x="1555860" y="66838"/>
                  </a:cubicBezTo>
                  <a:lnTo>
                    <a:pt x="1555860" y="104706"/>
                  </a:lnTo>
                  <a:cubicBezTo>
                    <a:pt x="1555860" y="122432"/>
                    <a:pt x="1548818" y="139433"/>
                    <a:pt x="1536284" y="151967"/>
                  </a:cubicBezTo>
                  <a:cubicBezTo>
                    <a:pt x="1523749" y="164502"/>
                    <a:pt x="1506749" y="171544"/>
                    <a:pt x="1489022" y="171544"/>
                  </a:cubicBezTo>
                  <a:lnTo>
                    <a:pt x="66838" y="171544"/>
                  </a:lnTo>
                  <a:cubicBezTo>
                    <a:pt x="49111" y="171544"/>
                    <a:pt x="32111" y="164502"/>
                    <a:pt x="19576" y="151967"/>
                  </a:cubicBezTo>
                  <a:cubicBezTo>
                    <a:pt x="7042" y="139433"/>
                    <a:pt x="0" y="122432"/>
                    <a:pt x="0" y="104706"/>
                  </a:cubicBezTo>
                  <a:lnTo>
                    <a:pt x="0" y="66838"/>
                  </a:lnTo>
                  <a:cubicBezTo>
                    <a:pt x="0" y="49111"/>
                    <a:pt x="7042" y="32111"/>
                    <a:pt x="19576" y="19576"/>
                  </a:cubicBezTo>
                  <a:cubicBezTo>
                    <a:pt x="32111" y="7042"/>
                    <a:pt x="49111" y="0"/>
                    <a:pt x="66838" y="0"/>
                  </a:cubicBezTo>
                  <a:close/>
                </a:path>
              </a:pathLst>
            </a:custGeom>
            <a:solidFill>
              <a:srgbClr val="454545">
                <a:alpha val="49804"/>
              </a:srgbClr>
            </a:solidFill>
          </p:spPr>
        </p:sp>
        <p:sp>
          <p:nvSpPr>
            <p:cNvPr id="4" name="TextBox 4"/>
            <p:cNvSpPr txBox="1"/>
            <p:nvPr/>
          </p:nvSpPr>
          <p:spPr>
            <a:xfrm>
              <a:off x="0" y="-85725"/>
              <a:ext cx="1555860" cy="257269"/>
            </a:xfrm>
            <a:prstGeom prst="rect">
              <a:avLst/>
            </a:prstGeom>
          </p:spPr>
          <p:txBody>
            <a:bodyPr lIns="50800" tIns="50800" rIns="50800" bIns="50800" rtlCol="0" anchor="ctr"/>
            <a:lstStyle/>
            <a:p>
              <a:pPr algn="ctr">
                <a:lnSpc>
                  <a:spcPts val="2927"/>
                </a:lnSpc>
              </a:pPr>
              <a:endParaRPr/>
            </a:p>
          </p:txBody>
        </p:sp>
      </p:grpSp>
      <p:sp>
        <p:nvSpPr>
          <p:cNvPr id="5" name="Freeform 5"/>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6" name="Freeform 6"/>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7" name="TextBox 7"/>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10.</a:t>
            </a:r>
          </a:p>
        </p:txBody>
      </p:sp>
      <p:sp>
        <p:nvSpPr>
          <p:cNvPr id="8" name="TextBox 8"/>
          <p:cNvSpPr txBox="1"/>
          <p:nvPr/>
        </p:nvSpPr>
        <p:spPr>
          <a:xfrm>
            <a:off x="6910763" y="653022"/>
            <a:ext cx="4974569" cy="459998"/>
          </a:xfrm>
          <a:prstGeom prst="rect">
            <a:avLst/>
          </a:prstGeom>
        </p:spPr>
        <p:txBody>
          <a:bodyPr wrap="square"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Importação dos dados: Rraven.</a:t>
            </a:r>
          </a:p>
        </p:txBody>
      </p:sp>
      <p:sp>
        <p:nvSpPr>
          <p:cNvPr id="9" name="TextBox 9"/>
          <p:cNvSpPr txBox="1"/>
          <p:nvPr/>
        </p:nvSpPr>
        <p:spPr>
          <a:xfrm>
            <a:off x="713422" y="141576"/>
            <a:ext cx="4968729"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Metodologia</a:t>
            </a:r>
          </a:p>
        </p:txBody>
      </p:sp>
      <p:sp>
        <p:nvSpPr>
          <p:cNvPr id="10" name="TextBox 10"/>
          <p:cNvSpPr txBox="1"/>
          <p:nvPr/>
        </p:nvSpPr>
        <p:spPr>
          <a:xfrm>
            <a:off x="-4821698" y="9047798"/>
            <a:ext cx="14359963" cy="34480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Arial MT Pro"/>
                <a:ea typeface="Arial MT Pro"/>
                <a:cs typeface="Arial MT Pro"/>
                <a:sym typeface="Arial MT Pro"/>
              </a:rPr>
              <a:t>Jorgewich -Cohen et al., 2024</a:t>
            </a:r>
          </a:p>
        </p:txBody>
      </p:sp>
      <p:grpSp>
        <p:nvGrpSpPr>
          <p:cNvPr id="11" name="Group 11"/>
          <p:cNvGrpSpPr/>
          <p:nvPr/>
        </p:nvGrpSpPr>
        <p:grpSpPr>
          <a:xfrm>
            <a:off x="10291582" y="6048002"/>
            <a:ext cx="6260918" cy="651330"/>
            <a:chOff x="0" y="0"/>
            <a:chExt cx="1648966" cy="171544"/>
          </a:xfrm>
        </p:grpSpPr>
        <p:sp>
          <p:nvSpPr>
            <p:cNvPr id="12" name="Freeform 12"/>
            <p:cNvSpPr/>
            <p:nvPr/>
          </p:nvSpPr>
          <p:spPr>
            <a:xfrm>
              <a:off x="0" y="0"/>
              <a:ext cx="1648966" cy="171544"/>
            </a:xfrm>
            <a:custGeom>
              <a:avLst/>
              <a:gdLst/>
              <a:ahLst/>
              <a:cxnLst/>
              <a:rect l="l" t="t" r="r" b="b"/>
              <a:pathLst>
                <a:path w="1648966" h="171544">
                  <a:moveTo>
                    <a:pt x="63064" y="0"/>
                  </a:moveTo>
                  <a:lnTo>
                    <a:pt x="1585902" y="0"/>
                  </a:lnTo>
                  <a:cubicBezTo>
                    <a:pt x="1602628" y="0"/>
                    <a:pt x="1618668" y="6644"/>
                    <a:pt x="1630495" y="18471"/>
                  </a:cubicBezTo>
                  <a:cubicBezTo>
                    <a:pt x="1642322" y="30298"/>
                    <a:pt x="1648966" y="46338"/>
                    <a:pt x="1648966" y="63064"/>
                  </a:cubicBezTo>
                  <a:lnTo>
                    <a:pt x="1648966" y="108480"/>
                  </a:lnTo>
                  <a:cubicBezTo>
                    <a:pt x="1648966" y="125205"/>
                    <a:pt x="1642322" y="141246"/>
                    <a:pt x="1630495" y="153073"/>
                  </a:cubicBezTo>
                  <a:cubicBezTo>
                    <a:pt x="1618668" y="164900"/>
                    <a:pt x="1602628" y="171544"/>
                    <a:pt x="1585902" y="171544"/>
                  </a:cubicBezTo>
                  <a:lnTo>
                    <a:pt x="63064" y="171544"/>
                  </a:lnTo>
                  <a:cubicBezTo>
                    <a:pt x="46338" y="171544"/>
                    <a:pt x="30298" y="164900"/>
                    <a:pt x="18471" y="153073"/>
                  </a:cubicBezTo>
                  <a:cubicBezTo>
                    <a:pt x="6644" y="141246"/>
                    <a:pt x="0" y="125205"/>
                    <a:pt x="0" y="108480"/>
                  </a:cubicBezTo>
                  <a:lnTo>
                    <a:pt x="0" y="63064"/>
                  </a:lnTo>
                  <a:cubicBezTo>
                    <a:pt x="0" y="46338"/>
                    <a:pt x="6644" y="30298"/>
                    <a:pt x="18471" y="18471"/>
                  </a:cubicBezTo>
                  <a:cubicBezTo>
                    <a:pt x="30298" y="6644"/>
                    <a:pt x="46338" y="0"/>
                    <a:pt x="63064" y="0"/>
                  </a:cubicBezTo>
                  <a:close/>
                </a:path>
              </a:pathLst>
            </a:custGeom>
            <a:solidFill>
              <a:srgbClr val="454545">
                <a:alpha val="49804"/>
              </a:srgbClr>
            </a:solidFill>
          </p:spPr>
        </p:sp>
        <p:sp>
          <p:nvSpPr>
            <p:cNvPr id="13" name="TextBox 13"/>
            <p:cNvSpPr txBox="1"/>
            <p:nvPr/>
          </p:nvSpPr>
          <p:spPr>
            <a:xfrm>
              <a:off x="0" y="-85725"/>
              <a:ext cx="1648966" cy="257269"/>
            </a:xfrm>
            <a:prstGeom prst="rect">
              <a:avLst/>
            </a:prstGeom>
          </p:spPr>
          <p:txBody>
            <a:bodyPr lIns="50800" tIns="50800" rIns="50800" bIns="50800" rtlCol="0" anchor="ctr"/>
            <a:lstStyle/>
            <a:p>
              <a:pPr algn="ctr">
                <a:lnSpc>
                  <a:spcPts val="2927"/>
                </a:lnSpc>
              </a:pPr>
              <a:endParaRPr/>
            </a:p>
          </p:txBody>
        </p:sp>
      </p:grpSp>
      <p:sp>
        <p:nvSpPr>
          <p:cNvPr id="14" name="TextBox 14"/>
          <p:cNvSpPr txBox="1"/>
          <p:nvPr/>
        </p:nvSpPr>
        <p:spPr>
          <a:xfrm>
            <a:off x="10658514" y="6062404"/>
            <a:ext cx="5527053" cy="512699"/>
          </a:xfrm>
          <a:prstGeom prst="rect">
            <a:avLst/>
          </a:prstGeom>
        </p:spPr>
        <p:txBody>
          <a:bodyPr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Partitioning Around Medoids (PAM).</a:t>
            </a:r>
          </a:p>
        </p:txBody>
      </p:sp>
      <p:sp>
        <p:nvSpPr>
          <p:cNvPr id="15" name="AutoShape 15"/>
          <p:cNvSpPr/>
          <p:nvPr/>
        </p:nvSpPr>
        <p:spPr>
          <a:xfrm>
            <a:off x="9163994" y="1307563"/>
            <a:ext cx="0" cy="557327"/>
          </a:xfrm>
          <a:prstGeom prst="line">
            <a:avLst/>
          </a:prstGeom>
          <a:ln w="38100" cap="flat">
            <a:solidFill>
              <a:srgbClr val="000000"/>
            </a:solidFill>
            <a:prstDash val="solid"/>
            <a:headEnd type="none" w="sm" len="sm"/>
            <a:tailEnd type="none" w="sm" len="sm"/>
          </a:ln>
        </p:spPr>
      </p:sp>
      <p:sp>
        <p:nvSpPr>
          <p:cNvPr id="16" name="AutoShape 16"/>
          <p:cNvSpPr/>
          <p:nvPr/>
        </p:nvSpPr>
        <p:spPr>
          <a:xfrm>
            <a:off x="9183044" y="2507059"/>
            <a:ext cx="0" cy="557327"/>
          </a:xfrm>
          <a:prstGeom prst="line">
            <a:avLst/>
          </a:prstGeom>
          <a:ln w="38100" cap="flat">
            <a:solidFill>
              <a:srgbClr val="000000"/>
            </a:solidFill>
            <a:prstDash val="solid"/>
            <a:headEnd type="none" w="sm" len="sm"/>
            <a:tailEnd type="none" w="sm" len="sm"/>
          </a:ln>
        </p:spPr>
      </p:sp>
      <p:sp>
        <p:nvSpPr>
          <p:cNvPr id="17" name="AutoShape 17"/>
          <p:cNvSpPr/>
          <p:nvPr/>
        </p:nvSpPr>
        <p:spPr>
          <a:xfrm>
            <a:off x="13623700" y="6691933"/>
            <a:ext cx="0" cy="557327"/>
          </a:xfrm>
          <a:prstGeom prst="line">
            <a:avLst/>
          </a:prstGeom>
          <a:ln w="38100" cap="flat">
            <a:solidFill>
              <a:srgbClr val="000000"/>
            </a:solidFill>
            <a:prstDash val="solid"/>
            <a:headEnd type="none" w="sm" len="sm"/>
            <a:tailEnd type="none" w="sm" len="sm"/>
          </a:ln>
        </p:spPr>
      </p:sp>
      <p:grpSp>
        <p:nvGrpSpPr>
          <p:cNvPr id="18" name="Group 18"/>
          <p:cNvGrpSpPr/>
          <p:nvPr/>
        </p:nvGrpSpPr>
        <p:grpSpPr>
          <a:xfrm>
            <a:off x="6228882" y="1864890"/>
            <a:ext cx="5907405" cy="651330"/>
            <a:chOff x="0" y="0"/>
            <a:chExt cx="1555860" cy="171544"/>
          </a:xfrm>
        </p:grpSpPr>
        <p:sp>
          <p:nvSpPr>
            <p:cNvPr id="19" name="Freeform 19"/>
            <p:cNvSpPr/>
            <p:nvPr/>
          </p:nvSpPr>
          <p:spPr>
            <a:xfrm>
              <a:off x="0" y="0"/>
              <a:ext cx="1555860" cy="171544"/>
            </a:xfrm>
            <a:custGeom>
              <a:avLst/>
              <a:gdLst/>
              <a:ahLst/>
              <a:cxnLst/>
              <a:rect l="l" t="t" r="r" b="b"/>
              <a:pathLst>
                <a:path w="1555860" h="171544">
                  <a:moveTo>
                    <a:pt x="66838" y="0"/>
                  </a:moveTo>
                  <a:lnTo>
                    <a:pt x="1489022" y="0"/>
                  </a:lnTo>
                  <a:cubicBezTo>
                    <a:pt x="1506749" y="0"/>
                    <a:pt x="1523749" y="7042"/>
                    <a:pt x="1536284" y="19576"/>
                  </a:cubicBezTo>
                  <a:cubicBezTo>
                    <a:pt x="1548818" y="32111"/>
                    <a:pt x="1555860" y="49111"/>
                    <a:pt x="1555860" y="66838"/>
                  </a:cubicBezTo>
                  <a:lnTo>
                    <a:pt x="1555860" y="104706"/>
                  </a:lnTo>
                  <a:cubicBezTo>
                    <a:pt x="1555860" y="122432"/>
                    <a:pt x="1548818" y="139433"/>
                    <a:pt x="1536284" y="151967"/>
                  </a:cubicBezTo>
                  <a:cubicBezTo>
                    <a:pt x="1523749" y="164502"/>
                    <a:pt x="1506749" y="171544"/>
                    <a:pt x="1489022" y="171544"/>
                  </a:cubicBezTo>
                  <a:lnTo>
                    <a:pt x="66838" y="171544"/>
                  </a:lnTo>
                  <a:cubicBezTo>
                    <a:pt x="49111" y="171544"/>
                    <a:pt x="32111" y="164502"/>
                    <a:pt x="19576" y="151967"/>
                  </a:cubicBezTo>
                  <a:cubicBezTo>
                    <a:pt x="7042" y="139433"/>
                    <a:pt x="0" y="122432"/>
                    <a:pt x="0" y="104706"/>
                  </a:cubicBezTo>
                  <a:lnTo>
                    <a:pt x="0" y="66838"/>
                  </a:lnTo>
                  <a:cubicBezTo>
                    <a:pt x="0" y="49111"/>
                    <a:pt x="7042" y="32111"/>
                    <a:pt x="19576" y="19576"/>
                  </a:cubicBezTo>
                  <a:cubicBezTo>
                    <a:pt x="32111" y="7042"/>
                    <a:pt x="49111" y="0"/>
                    <a:pt x="66838" y="0"/>
                  </a:cubicBezTo>
                  <a:close/>
                </a:path>
              </a:pathLst>
            </a:custGeom>
            <a:solidFill>
              <a:srgbClr val="454545">
                <a:alpha val="49804"/>
              </a:srgbClr>
            </a:solidFill>
          </p:spPr>
        </p:sp>
        <p:sp>
          <p:nvSpPr>
            <p:cNvPr id="20" name="TextBox 20"/>
            <p:cNvSpPr txBox="1"/>
            <p:nvPr/>
          </p:nvSpPr>
          <p:spPr>
            <a:xfrm>
              <a:off x="0" y="-85725"/>
              <a:ext cx="1555860" cy="257269"/>
            </a:xfrm>
            <a:prstGeom prst="rect">
              <a:avLst/>
            </a:prstGeom>
          </p:spPr>
          <p:txBody>
            <a:bodyPr lIns="50800" tIns="50800" rIns="50800" bIns="50800" rtlCol="0" anchor="ctr"/>
            <a:lstStyle/>
            <a:p>
              <a:pPr algn="ctr">
                <a:lnSpc>
                  <a:spcPts val="2927"/>
                </a:lnSpc>
              </a:pPr>
              <a:endParaRPr/>
            </a:p>
          </p:txBody>
        </p:sp>
      </p:grpSp>
      <p:sp>
        <p:nvSpPr>
          <p:cNvPr id="21" name="TextBox 21"/>
          <p:cNvSpPr txBox="1"/>
          <p:nvPr/>
        </p:nvSpPr>
        <p:spPr>
          <a:xfrm>
            <a:off x="6609235" y="1874415"/>
            <a:ext cx="5275139" cy="512699"/>
          </a:xfrm>
          <a:prstGeom prst="rect">
            <a:avLst/>
          </a:prstGeom>
        </p:spPr>
        <p:txBody>
          <a:bodyPr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Extração dos descritores: Warbler.</a:t>
            </a:r>
          </a:p>
        </p:txBody>
      </p:sp>
      <p:sp>
        <p:nvSpPr>
          <p:cNvPr id="22" name="AutoShape 22"/>
          <p:cNvSpPr/>
          <p:nvPr/>
        </p:nvSpPr>
        <p:spPr>
          <a:xfrm>
            <a:off x="4722054" y="3083436"/>
            <a:ext cx="8824843" cy="0"/>
          </a:xfrm>
          <a:prstGeom prst="line">
            <a:avLst/>
          </a:prstGeom>
          <a:ln w="38100" cap="flat">
            <a:solidFill>
              <a:srgbClr val="000000"/>
            </a:solidFill>
            <a:prstDash val="solid"/>
            <a:headEnd type="none" w="sm" len="sm"/>
            <a:tailEnd type="none" w="sm" len="sm"/>
          </a:ln>
        </p:spPr>
      </p:sp>
      <p:sp>
        <p:nvSpPr>
          <p:cNvPr id="23" name="AutoShape 23"/>
          <p:cNvSpPr/>
          <p:nvPr/>
        </p:nvSpPr>
        <p:spPr>
          <a:xfrm>
            <a:off x="4703004" y="3064386"/>
            <a:ext cx="0" cy="557327"/>
          </a:xfrm>
          <a:prstGeom prst="line">
            <a:avLst/>
          </a:prstGeom>
          <a:ln w="38100" cap="flat">
            <a:solidFill>
              <a:srgbClr val="000000"/>
            </a:solidFill>
            <a:prstDash val="solid"/>
            <a:headEnd type="none" w="sm" len="sm"/>
            <a:tailEnd type="none" w="sm" len="sm"/>
          </a:ln>
        </p:spPr>
      </p:sp>
      <p:sp>
        <p:nvSpPr>
          <p:cNvPr id="24" name="AutoShape 24"/>
          <p:cNvSpPr/>
          <p:nvPr/>
        </p:nvSpPr>
        <p:spPr>
          <a:xfrm>
            <a:off x="13565946" y="3083436"/>
            <a:ext cx="0" cy="557327"/>
          </a:xfrm>
          <a:prstGeom prst="line">
            <a:avLst/>
          </a:prstGeom>
          <a:ln w="38100" cap="flat">
            <a:solidFill>
              <a:srgbClr val="000000"/>
            </a:solidFill>
            <a:prstDash val="solid"/>
            <a:headEnd type="none" w="sm" len="sm"/>
            <a:tailEnd type="none" w="sm" len="sm"/>
          </a:ln>
        </p:spPr>
      </p:sp>
      <p:grpSp>
        <p:nvGrpSpPr>
          <p:cNvPr id="25" name="Group 25"/>
          <p:cNvGrpSpPr/>
          <p:nvPr/>
        </p:nvGrpSpPr>
        <p:grpSpPr>
          <a:xfrm>
            <a:off x="2834873" y="3621712"/>
            <a:ext cx="3774362" cy="651330"/>
            <a:chOff x="0" y="0"/>
            <a:chExt cx="994071" cy="171544"/>
          </a:xfrm>
        </p:grpSpPr>
        <p:sp>
          <p:nvSpPr>
            <p:cNvPr id="26" name="Freeform 26"/>
            <p:cNvSpPr/>
            <p:nvPr/>
          </p:nvSpPr>
          <p:spPr>
            <a:xfrm>
              <a:off x="0" y="0"/>
              <a:ext cx="994071" cy="171544"/>
            </a:xfrm>
            <a:custGeom>
              <a:avLst/>
              <a:gdLst/>
              <a:ahLst/>
              <a:cxnLst/>
              <a:rect l="l" t="t" r="r" b="b"/>
              <a:pathLst>
                <a:path w="994071" h="171544">
                  <a:moveTo>
                    <a:pt x="85772" y="0"/>
                  </a:moveTo>
                  <a:lnTo>
                    <a:pt x="908299" y="0"/>
                  </a:lnTo>
                  <a:cubicBezTo>
                    <a:pt x="955669" y="0"/>
                    <a:pt x="994071" y="38401"/>
                    <a:pt x="994071" y="85772"/>
                  </a:cubicBezTo>
                  <a:lnTo>
                    <a:pt x="994071" y="85772"/>
                  </a:lnTo>
                  <a:cubicBezTo>
                    <a:pt x="994071" y="108520"/>
                    <a:pt x="985034" y="130336"/>
                    <a:pt x="968949" y="146422"/>
                  </a:cubicBezTo>
                  <a:cubicBezTo>
                    <a:pt x="952863" y="162507"/>
                    <a:pt x="931047" y="171544"/>
                    <a:pt x="908299" y="171544"/>
                  </a:cubicBezTo>
                  <a:lnTo>
                    <a:pt x="85772" y="171544"/>
                  </a:lnTo>
                  <a:cubicBezTo>
                    <a:pt x="63024" y="171544"/>
                    <a:pt x="41207" y="162507"/>
                    <a:pt x="25122" y="146422"/>
                  </a:cubicBezTo>
                  <a:cubicBezTo>
                    <a:pt x="9037" y="130336"/>
                    <a:pt x="0" y="108520"/>
                    <a:pt x="0" y="85772"/>
                  </a:cubicBezTo>
                  <a:lnTo>
                    <a:pt x="0" y="85772"/>
                  </a:lnTo>
                  <a:cubicBezTo>
                    <a:pt x="0" y="63024"/>
                    <a:pt x="9037" y="41207"/>
                    <a:pt x="25122" y="25122"/>
                  </a:cubicBezTo>
                  <a:cubicBezTo>
                    <a:pt x="41207" y="9037"/>
                    <a:pt x="63024" y="0"/>
                    <a:pt x="85772" y="0"/>
                  </a:cubicBezTo>
                  <a:close/>
                </a:path>
              </a:pathLst>
            </a:custGeom>
            <a:solidFill>
              <a:srgbClr val="454545">
                <a:alpha val="49804"/>
              </a:srgbClr>
            </a:solidFill>
          </p:spPr>
        </p:sp>
        <p:sp>
          <p:nvSpPr>
            <p:cNvPr id="27" name="TextBox 27"/>
            <p:cNvSpPr txBox="1"/>
            <p:nvPr/>
          </p:nvSpPr>
          <p:spPr>
            <a:xfrm>
              <a:off x="0" y="-85725"/>
              <a:ext cx="994071" cy="257269"/>
            </a:xfrm>
            <a:prstGeom prst="rect">
              <a:avLst/>
            </a:prstGeom>
          </p:spPr>
          <p:txBody>
            <a:bodyPr lIns="50800" tIns="50800" rIns="50800" bIns="50800" rtlCol="0" anchor="ctr"/>
            <a:lstStyle/>
            <a:p>
              <a:pPr algn="ctr">
                <a:lnSpc>
                  <a:spcPts val="2927"/>
                </a:lnSpc>
              </a:pPr>
              <a:endParaRPr/>
            </a:p>
          </p:txBody>
        </p:sp>
      </p:grpSp>
      <p:grpSp>
        <p:nvGrpSpPr>
          <p:cNvPr id="28" name="Group 28"/>
          <p:cNvGrpSpPr/>
          <p:nvPr/>
        </p:nvGrpSpPr>
        <p:grpSpPr>
          <a:xfrm>
            <a:off x="11271255" y="3640762"/>
            <a:ext cx="4589384" cy="651330"/>
            <a:chOff x="0" y="0"/>
            <a:chExt cx="1208727" cy="171544"/>
          </a:xfrm>
        </p:grpSpPr>
        <p:sp>
          <p:nvSpPr>
            <p:cNvPr id="29" name="Freeform 29"/>
            <p:cNvSpPr/>
            <p:nvPr/>
          </p:nvSpPr>
          <p:spPr>
            <a:xfrm>
              <a:off x="0" y="0"/>
              <a:ext cx="1208727" cy="171544"/>
            </a:xfrm>
            <a:custGeom>
              <a:avLst/>
              <a:gdLst/>
              <a:ahLst/>
              <a:cxnLst/>
              <a:rect l="l" t="t" r="r" b="b"/>
              <a:pathLst>
                <a:path w="1208727" h="171544">
                  <a:moveTo>
                    <a:pt x="85772" y="0"/>
                  </a:moveTo>
                  <a:lnTo>
                    <a:pt x="1122955" y="0"/>
                  </a:lnTo>
                  <a:cubicBezTo>
                    <a:pt x="1145703" y="0"/>
                    <a:pt x="1167519" y="9037"/>
                    <a:pt x="1183604" y="25122"/>
                  </a:cubicBezTo>
                  <a:cubicBezTo>
                    <a:pt x="1199690" y="41207"/>
                    <a:pt x="1208727" y="63024"/>
                    <a:pt x="1208727" y="85772"/>
                  </a:cubicBezTo>
                  <a:lnTo>
                    <a:pt x="1208727" y="85772"/>
                  </a:lnTo>
                  <a:cubicBezTo>
                    <a:pt x="1208727" y="133142"/>
                    <a:pt x="1170325" y="171544"/>
                    <a:pt x="1122955" y="171544"/>
                  </a:cubicBezTo>
                  <a:lnTo>
                    <a:pt x="85772" y="171544"/>
                  </a:lnTo>
                  <a:cubicBezTo>
                    <a:pt x="63024" y="171544"/>
                    <a:pt x="41207" y="162507"/>
                    <a:pt x="25122" y="146422"/>
                  </a:cubicBezTo>
                  <a:cubicBezTo>
                    <a:pt x="9037" y="130336"/>
                    <a:pt x="0" y="108520"/>
                    <a:pt x="0" y="85772"/>
                  </a:cubicBezTo>
                  <a:lnTo>
                    <a:pt x="0" y="85772"/>
                  </a:lnTo>
                  <a:cubicBezTo>
                    <a:pt x="0" y="63024"/>
                    <a:pt x="9037" y="41207"/>
                    <a:pt x="25122" y="25122"/>
                  </a:cubicBezTo>
                  <a:cubicBezTo>
                    <a:pt x="41207" y="9037"/>
                    <a:pt x="63024" y="0"/>
                    <a:pt x="85772" y="0"/>
                  </a:cubicBezTo>
                  <a:close/>
                </a:path>
              </a:pathLst>
            </a:custGeom>
            <a:solidFill>
              <a:srgbClr val="454545">
                <a:alpha val="49804"/>
              </a:srgbClr>
            </a:solidFill>
          </p:spPr>
        </p:sp>
        <p:sp>
          <p:nvSpPr>
            <p:cNvPr id="30" name="TextBox 30"/>
            <p:cNvSpPr txBox="1"/>
            <p:nvPr/>
          </p:nvSpPr>
          <p:spPr>
            <a:xfrm>
              <a:off x="0" y="-85725"/>
              <a:ext cx="1208727" cy="257269"/>
            </a:xfrm>
            <a:prstGeom prst="rect">
              <a:avLst/>
            </a:prstGeom>
          </p:spPr>
          <p:txBody>
            <a:bodyPr lIns="50800" tIns="50800" rIns="50800" bIns="50800" rtlCol="0" anchor="ctr"/>
            <a:lstStyle/>
            <a:p>
              <a:pPr algn="ctr">
                <a:lnSpc>
                  <a:spcPts val="2927"/>
                </a:lnSpc>
              </a:pPr>
              <a:endParaRPr/>
            </a:p>
          </p:txBody>
        </p:sp>
      </p:grpSp>
      <p:sp>
        <p:nvSpPr>
          <p:cNvPr id="31" name="TextBox 31"/>
          <p:cNvSpPr txBox="1"/>
          <p:nvPr/>
        </p:nvSpPr>
        <p:spPr>
          <a:xfrm>
            <a:off x="3579450" y="3638641"/>
            <a:ext cx="2285207" cy="512699"/>
          </a:xfrm>
          <a:prstGeom prst="rect">
            <a:avLst/>
          </a:prstGeom>
        </p:spPr>
        <p:txBody>
          <a:bodyPr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Tipos manuais</a:t>
            </a:r>
          </a:p>
        </p:txBody>
      </p:sp>
      <p:sp>
        <p:nvSpPr>
          <p:cNvPr id="32" name="TextBox 32"/>
          <p:cNvSpPr txBox="1"/>
          <p:nvPr/>
        </p:nvSpPr>
        <p:spPr>
          <a:xfrm>
            <a:off x="11372984" y="3657691"/>
            <a:ext cx="4385925" cy="512699"/>
          </a:xfrm>
          <a:prstGeom prst="rect">
            <a:avLst/>
          </a:prstGeom>
        </p:spPr>
        <p:txBody>
          <a:bodyPr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Agrupamento computacional</a:t>
            </a:r>
          </a:p>
        </p:txBody>
      </p:sp>
      <p:sp>
        <p:nvSpPr>
          <p:cNvPr id="33" name="AutoShape 33"/>
          <p:cNvSpPr/>
          <p:nvPr/>
        </p:nvSpPr>
        <p:spPr>
          <a:xfrm>
            <a:off x="13565946" y="4292093"/>
            <a:ext cx="0" cy="557327"/>
          </a:xfrm>
          <a:prstGeom prst="line">
            <a:avLst/>
          </a:prstGeom>
          <a:ln w="38100" cap="flat">
            <a:solidFill>
              <a:srgbClr val="000000"/>
            </a:solidFill>
            <a:prstDash val="solid"/>
            <a:headEnd type="none" w="sm" len="sm"/>
            <a:tailEnd type="none" w="sm" len="sm"/>
          </a:ln>
        </p:spPr>
      </p:sp>
      <p:grpSp>
        <p:nvGrpSpPr>
          <p:cNvPr id="34" name="Group 34"/>
          <p:cNvGrpSpPr/>
          <p:nvPr/>
        </p:nvGrpSpPr>
        <p:grpSpPr>
          <a:xfrm>
            <a:off x="10291582" y="4853746"/>
            <a:ext cx="6260918" cy="651330"/>
            <a:chOff x="0" y="0"/>
            <a:chExt cx="1648966" cy="171544"/>
          </a:xfrm>
        </p:grpSpPr>
        <p:sp>
          <p:nvSpPr>
            <p:cNvPr id="35" name="Freeform 35"/>
            <p:cNvSpPr/>
            <p:nvPr/>
          </p:nvSpPr>
          <p:spPr>
            <a:xfrm>
              <a:off x="0" y="0"/>
              <a:ext cx="1648966" cy="171544"/>
            </a:xfrm>
            <a:custGeom>
              <a:avLst/>
              <a:gdLst/>
              <a:ahLst/>
              <a:cxnLst/>
              <a:rect l="l" t="t" r="r" b="b"/>
              <a:pathLst>
                <a:path w="1648966" h="171544">
                  <a:moveTo>
                    <a:pt x="63064" y="0"/>
                  </a:moveTo>
                  <a:lnTo>
                    <a:pt x="1585902" y="0"/>
                  </a:lnTo>
                  <a:cubicBezTo>
                    <a:pt x="1602628" y="0"/>
                    <a:pt x="1618668" y="6644"/>
                    <a:pt x="1630495" y="18471"/>
                  </a:cubicBezTo>
                  <a:cubicBezTo>
                    <a:pt x="1642322" y="30298"/>
                    <a:pt x="1648966" y="46338"/>
                    <a:pt x="1648966" y="63064"/>
                  </a:cubicBezTo>
                  <a:lnTo>
                    <a:pt x="1648966" y="108480"/>
                  </a:lnTo>
                  <a:cubicBezTo>
                    <a:pt x="1648966" y="125205"/>
                    <a:pt x="1642322" y="141246"/>
                    <a:pt x="1630495" y="153073"/>
                  </a:cubicBezTo>
                  <a:cubicBezTo>
                    <a:pt x="1618668" y="164900"/>
                    <a:pt x="1602628" y="171544"/>
                    <a:pt x="1585902" y="171544"/>
                  </a:cubicBezTo>
                  <a:lnTo>
                    <a:pt x="63064" y="171544"/>
                  </a:lnTo>
                  <a:cubicBezTo>
                    <a:pt x="46338" y="171544"/>
                    <a:pt x="30298" y="164900"/>
                    <a:pt x="18471" y="153073"/>
                  </a:cubicBezTo>
                  <a:cubicBezTo>
                    <a:pt x="6644" y="141246"/>
                    <a:pt x="0" y="125205"/>
                    <a:pt x="0" y="108480"/>
                  </a:cubicBezTo>
                  <a:lnTo>
                    <a:pt x="0" y="63064"/>
                  </a:lnTo>
                  <a:cubicBezTo>
                    <a:pt x="0" y="46338"/>
                    <a:pt x="6644" y="30298"/>
                    <a:pt x="18471" y="18471"/>
                  </a:cubicBezTo>
                  <a:cubicBezTo>
                    <a:pt x="30298" y="6644"/>
                    <a:pt x="46338" y="0"/>
                    <a:pt x="63064" y="0"/>
                  </a:cubicBezTo>
                  <a:close/>
                </a:path>
              </a:pathLst>
            </a:custGeom>
            <a:solidFill>
              <a:srgbClr val="454545">
                <a:alpha val="49804"/>
              </a:srgbClr>
            </a:solidFill>
          </p:spPr>
        </p:sp>
        <p:sp>
          <p:nvSpPr>
            <p:cNvPr id="36" name="TextBox 36"/>
            <p:cNvSpPr txBox="1"/>
            <p:nvPr/>
          </p:nvSpPr>
          <p:spPr>
            <a:xfrm>
              <a:off x="0" y="-85725"/>
              <a:ext cx="1648966" cy="257269"/>
            </a:xfrm>
            <a:prstGeom prst="rect">
              <a:avLst/>
            </a:prstGeom>
          </p:spPr>
          <p:txBody>
            <a:bodyPr lIns="50800" tIns="50800" rIns="50800" bIns="50800" rtlCol="0" anchor="ctr"/>
            <a:lstStyle/>
            <a:p>
              <a:pPr algn="ctr">
                <a:lnSpc>
                  <a:spcPts val="2927"/>
                </a:lnSpc>
              </a:pPr>
              <a:endParaRPr/>
            </a:p>
          </p:txBody>
        </p:sp>
      </p:grpSp>
      <p:sp>
        <p:nvSpPr>
          <p:cNvPr id="37" name="TextBox 37"/>
          <p:cNvSpPr txBox="1"/>
          <p:nvPr/>
        </p:nvSpPr>
        <p:spPr>
          <a:xfrm>
            <a:off x="10579393" y="4868470"/>
            <a:ext cx="5973107" cy="512699"/>
          </a:xfrm>
          <a:prstGeom prst="rect">
            <a:avLst/>
          </a:prstGeom>
        </p:spPr>
        <p:txBody>
          <a:bodyPr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Random forest: Matriz de proximidade.</a:t>
            </a:r>
          </a:p>
        </p:txBody>
      </p:sp>
      <p:sp>
        <p:nvSpPr>
          <p:cNvPr id="38" name="AutoShape 38"/>
          <p:cNvSpPr/>
          <p:nvPr/>
        </p:nvSpPr>
        <p:spPr>
          <a:xfrm>
            <a:off x="13565946" y="5495552"/>
            <a:ext cx="0" cy="557327"/>
          </a:xfrm>
          <a:prstGeom prst="line">
            <a:avLst/>
          </a:prstGeom>
          <a:ln w="38100" cap="flat">
            <a:solidFill>
              <a:srgbClr val="000000"/>
            </a:solidFill>
            <a:prstDash val="solid"/>
            <a:headEnd type="none" w="sm" len="sm"/>
            <a:tailEnd type="none" w="sm" len="sm"/>
          </a:ln>
        </p:spPr>
      </p:sp>
      <p:sp>
        <p:nvSpPr>
          <p:cNvPr id="39" name="AutoShape 39"/>
          <p:cNvSpPr/>
          <p:nvPr/>
        </p:nvSpPr>
        <p:spPr>
          <a:xfrm flipV="1">
            <a:off x="4722054" y="4273043"/>
            <a:ext cx="0" cy="2983212"/>
          </a:xfrm>
          <a:prstGeom prst="line">
            <a:avLst/>
          </a:prstGeom>
          <a:ln w="38100" cap="flat">
            <a:solidFill>
              <a:srgbClr val="000000"/>
            </a:solidFill>
            <a:prstDash val="solid"/>
            <a:headEnd type="none" w="sm" len="sm"/>
            <a:tailEnd type="none" w="sm" len="sm"/>
          </a:ln>
        </p:spPr>
      </p:sp>
      <p:grpSp>
        <p:nvGrpSpPr>
          <p:cNvPr id="43" name="Group 43"/>
          <p:cNvGrpSpPr/>
          <p:nvPr/>
        </p:nvGrpSpPr>
        <p:grpSpPr>
          <a:xfrm>
            <a:off x="5758245" y="6926428"/>
            <a:ext cx="6861064" cy="651330"/>
            <a:chOff x="0" y="0"/>
            <a:chExt cx="1807029" cy="171544"/>
          </a:xfrm>
        </p:grpSpPr>
        <p:sp>
          <p:nvSpPr>
            <p:cNvPr id="44" name="Freeform 44"/>
            <p:cNvSpPr/>
            <p:nvPr/>
          </p:nvSpPr>
          <p:spPr>
            <a:xfrm>
              <a:off x="0" y="0"/>
              <a:ext cx="1807029" cy="171544"/>
            </a:xfrm>
            <a:custGeom>
              <a:avLst/>
              <a:gdLst/>
              <a:ahLst/>
              <a:cxnLst/>
              <a:rect l="l" t="t" r="r" b="b"/>
              <a:pathLst>
                <a:path w="1807029" h="171544">
                  <a:moveTo>
                    <a:pt x="57548" y="0"/>
                  </a:moveTo>
                  <a:lnTo>
                    <a:pt x="1749482" y="0"/>
                  </a:lnTo>
                  <a:cubicBezTo>
                    <a:pt x="1781264" y="0"/>
                    <a:pt x="1807029" y="25765"/>
                    <a:pt x="1807029" y="57548"/>
                  </a:cubicBezTo>
                  <a:lnTo>
                    <a:pt x="1807029" y="113996"/>
                  </a:lnTo>
                  <a:cubicBezTo>
                    <a:pt x="1807029" y="145779"/>
                    <a:pt x="1781264" y="171544"/>
                    <a:pt x="1749482" y="171544"/>
                  </a:cubicBezTo>
                  <a:lnTo>
                    <a:pt x="57548" y="171544"/>
                  </a:lnTo>
                  <a:cubicBezTo>
                    <a:pt x="25765" y="171544"/>
                    <a:pt x="0" y="145779"/>
                    <a:pt x="0" y="113996"/>
                  </a:cubicBezTo>
                  <a:lnTo>
                    <a:pt x="0" y="57548"/>
                  </a:lnTo>
                  <a:cubicBezTo>
                    <a:pt x="0" y="25765"/>
                    <a:pt x="25765" y="0"/>
                    <a:pt x="57548" y="0"/>
                  </a:cubicBezTo>
                  <a:close/>
                </a:path>
              </a:pathLst>
            </a:custGeom>
            <a:solidFill>
              <a:srgbClr val="454545">
                <a:alpha val="49804"/>
              </a:srgbClr>
            </a:solidFill>
          </p:spPr>
        </p:sp>
        <p:sp>
          <p:nvSpPr>
            <p:cNvPr id="45" name="TextBox 45"/>
            <p:cNvSpPr txBox="1"/>
            <p:nvPr/>
          </p:nvSpPr>
          <p:spPr>
            <a:xfrm>
              <a:off x="0" y="-85725"/>
              <a:ext cx="1807029" cy="257269"/>
            </a:xfrm>
            <a:prstGeom prst="rect">
              <a:avLst/>
            </a:prstGeom>
          </p:spPr>
          <p:txBody>
            <a:bodyPr lIns="50800" tIns="50800" rIns="50800" bIns="50800" rtlCol="0" anchor="ctr"/>
            <a:lstStyle/>
            <a:p>
              <a:pPr algn="ctr">
                <a:lnSpc>
                  <a:spcPts val="2927"/>
                </a:lnSpc>
              </a:pPr>
              <a:endParaRPr/>
            </a:p>
          </p:txBody>
        </p:sp>
      </p:grpSp>
      <p:sp>
        <p:nvSpPr>
          <p:cNvPr id="46" name="TextBox 46"/>
          <p:cNvSpPr txBox="1"/>
          <p:nvPr/>
        </p:nvSpPr>
        <p:spPr>
          <a:xfrm>
            <a:off x="5989176" y="6988475"/>
            <a:ext cx="6530822" cy="512699"/>
          </a:xfrm>
          <a:prstGeom prst="rect">
            <a:avLst/>
          </a:prstGeom>
        </p:spPr>
        <p:txBody>
          <a:bodyPr lIns="0" tIns="0" rIns="0" bIns="0" rtlCol="0" anchor="t">
            <a:spAutoFit/>
          </a:bodyPr>
          <a:lstStyle/>
          <a:p>
            <a:pPr algn="l">
              <a:lnSpc>
                <a:spcPts val="3766"/>
              </a:lnSpc>
            </a:pPr>
            <a:r>
              <a:rPr lang="en-US" sz="2690">
                <a:solidFill>
                  <a:srgbClr val="000000"/>
                </a:solidFill>
                <a:latin typeface="Arial MT Pro"/>
                <a:ea typeface="Arial MT Pro"/>
                <a:cs typeface="Arial MT Pro"/>
                <a:sym typeface="Arial MT Pro"/>
              </a:rPr>
              <a:t>Análise de Componentes Principais (PCA).</a:t>
            </a:r>
          </a:p>
        </p:txBody>
      </p:sp>
      <p:sp>
        <p:nvSpPr>
          <p:cNvPr id="54" name="TextBox 54"/>
          <p:cNvSpPr txBox="1"/>
          <p:nvPr/>
        </p:nvSpPr>
        <p:spPr>
          <a:xfrm>
            <a:off x="7295403" y="8653950"/>
            <a:ext cx="3774362" cy="976817"/>
          </a:xfrm>
          <a:prstGeom prst="rect">
            <a:avLst/>
          </a:prstGeom>
        </p:spPr>
        <p:txBody>
          <a:bodyPr lIns="50800" tIns="50800" rIns="50800" bIns="50800" rtlCol="0" anchor="ctr"/>
          <a:lstStyle/>
          <a:p>
            <a:pPr algn="ctr">
              <a:lnSpc>
                <a:spcPts val="2927"/>
              </a:lnSpc>
            </a:pPr>
            <a:endParaRPr/>
          </a:p>
        </p:txBody>
      </p:sp>
      <p:cxnSp>
        <p:nvCxnSpPr>
          <p:cNvPr id="59" name="Conector de Seta Reta 58">
            <a:extLst>
              <a:ext uri="{FF2B5EF4-FFF2-40B4-BE49-F238E27FC236}">
                <a16:creationId xmlns:a16="http://schemas.microsoft.com/office/drawing/2014/main" id="{A575ACBC-9F92-EC11-57C9-EBA6612E5AD5}"/>
              </a:ext>
            </a:extLst>
          </p:cNvPr>
          <p:cNvCxnSpPr/>
          <p:nvPr/>
        </p:nvCxnSpPr>
        <p:spPr>
          <a:xfrm>
            <a:off x="12618117" y="7233987"/>
            <a:ext cx="1007645" cy="1503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ector de Seta Reta 59">
            <a:extLst>
              <a:ext uri="{FF2B5EF4-FFF2-40B4-BE49-F238E27FC236}">
                <a16:creationId xmlns:a16="http://schemas.microsoft.com/office/drawing/2014/main" id="{AD3E84CC-4DDF-3B02-0307-1BBB675C9146}"/>
              </a:ext>
            </a:extLst>
          </p:cNvPr>
          <p:cNvCxnSpPr>
            <a:cxnSpLocks/>
          </p:cNvCxnSpPr>
          <p:nvPr/>
        </p:nvCxnSpPr>
        <p:spPr>
          <a:xfrm>
            <a:off x="4752471" y="7233986"/>
            <a:ext cx="1007645" cy="1503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Freeform 4"/>
          <p:cNvSpPr/>
          <p:nvPr/>
        </p:nvSpPr>
        <p:spPr>
          <a:xfrm>
            <a:off x="6408848" y="1534564"/>
            <a:ext cx="11317008" cy="7217871"/>
          </a:xfrm>
          <a:custGeom>
            <a:avLst/>
            <a:gdLst/>
            <a:ahLst/>
            <a:cxnLst/>
            <a:rect l="l" t="t" r="r" b="b"/>
            <a:pathLst>
              <a:path w="11317008" h="7217871">
                <a:moveTo>
                  <a:pt x="0" y="0"/>
                </a:moveTo>
                <a:lnTo>
                  <a:pt x="11317008" y="0"/>
                </a:lnTo>
                <a:lnTo>
                  <a:pt x="11317008" y="7217872"/>
                </a:lnTo>
                <a:lnTo>
                  <a:pt x="0" y="7217872"/>
                </a:lnTo>
                <a:lnTo>
                  <a:pt x="0" y="0"/>
                </a:lnTo>
                <a:close/>
              </a:path>
            </a:pathLst>
          </a:custGeom>
          <a:blipFill>
            <a:blip r:embed="rId3"/>
            <a:stretch>
              <a:fillRect t="-10160" r="-370"/>
            </a:stretch>
          </a:blipFill>
          <a:ln w="47625" cap="sq">
            <a:solidFill>
              <a:srgbClr val="000000"/>
            </a:solidFill>
            <a:prstDash val="solid"/>
            <a:miter/>
          </a:ln>
        </p:spPr>
      </p:sp>
      <p:sp>
        <p:nvSpPr>
          <p:cNvPr id="5" name="TextBox 5"/>
          <p:cNvSpPr txBox="1"/>
          <p:nvPr/>
        </p:nvSpPr>
        <p:spPr>
          <a:xfrm>
            <a:off x="910396" y="141576"/>
            <a:ext cx="4300084"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Resultados</a:t>
            </a:r>
          </a:p>
        </p:txBody>
      </p:sp>
      <p:sp>
        <p:nvSpPr>
          <p:cNvPr id="6" name="TextBox 6"/>
          <p:cNvSpPr txBox="1"/>
          <p:nvPr/>
        </p:nvSpPr>
        <p:spPr>
          <a:xfrm>
            <a:off x="8736163" y="8821420"/>
            <a:ext cx="6662379" cy="388568"/>
          </a:xfrm>
          <a:prstGeom prst="rect">
            <a:avLst/>
          </a:prstGeom>
        </p:spPr>
        <p:txBody>
          <a:bodyPr lIns="0" tIns="0" rIns="0" bIns="0" rtlCol="0" anchor="t">
            <a:spAutoFit/>
          </a:bodyPr>
          <a:lstStyle/>
          <a:p>
            <a:pPr algn="just">
              <a:lnSpc>
                <a:spcPts val="3220"/>
              </a:lnSpc>
            </a:pPr>
            <a:r>
              <a:rPr lang="en-US" sz="2300" b="1" dirty="0" err="1">
                <a:solidFill>
                  <a:srgbClr val="000000"/>
                </a:solidFill>
                <a:latin typeface="Arial MT Pro Bold"/>
                <a:ea typeface="Arial MT Pro Bold"/>
                <a:cs typeface="Arial MT Pro Bold"/>
                <a:sym typeface="Arial MT Pro Bold"/>
              </a:rPr>
              <a:t>Figura</a:t>
            </a:r>
            <a:r>
              <a:rPr lang="en-US" sz="2300" b="1" dirty="0">
                <a:solidFill>
                  <a:srgbClr val="000000"/>
                </a:solidFill>
                <a:latin typeface="Arial MT Pro Bold"/>
                <a:ea typeface="Arial MT Pro Bold"/>
                <a:cs typeface="Arial MT Pro Bold"/>
                <a:sym typeface="Arial MT Pro Bold"/>
              </a:rPr>
              <a:t> 7:</a:t>
            </a:r>
            <a:r>
              <a:rPr lang="en-US" sz="2300" dirty="0">
                <a:solidFill>
                  <a:srgbClr val="000000"/>
                </a:solidFill>
                <a:latin typeface="Arial MT Pro"/>
                <a:ea typeface="Arial MT Pro"/>
                <a:cs typeface="Arial MT Pro"/>
                <a:sym typeface="Arial MT Pro"/>
              </a:rPr>
              <a:t>Distribuição das </a:t>
            </a:r>
            <a:r>
              <a:rPr lang="en-US" sz="2300" dirty="0" err="1">
                <a:solidFill>
                  <a:srgbClr val="000000"/>
                </a:solidFill>
                <a:latin typeface="Arial MT Pro"/>
                <a:ea typeface="Arial MT Pro"/>
                <a:cs typeface="Arial MT Pro"/>
                <a:sym typeface="Arial MT Pro"/>
              </a:rPr>
              <a:t>vocalizações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nas</a:t>
            </a:r>
            <a:r>
              <a:rPr lang="en-US" sz="2300" dirty="0">
                <a:solidFill>
                  <a:srgbClr val="000000"/>
                </a:solidFill>
                <a:latin typeface="Arial MT Pro"/>
                <a:ea typeface="Arial MT Pro"/>
                <a:cs typeface="Arial MT Pro"/>
                <a:sym typeface="Arial MT Pro"/>
              </a:rPr>
              <a:t> salas.</a:t>
            </a:r>
          </a:p>
        </p:txBody>
      </p:sp>
      <p:sp>
        <p:nvSpPr>
          <p:cNvPr id="7" name="TextBox 7"/>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11.</a:t>
            </a:r>
          </a:p>
        </p:txBody>
      </p:sp>
      <p:grpSp>
        <p:nvGrpSpPr>
          <p:cNvPr id="8" name="Group 8"/>
          <p:cNvGrpSpPr/>
          <p:nvPr/>
        </p:nvGrpSpPr>
        <p:grpSpPr>
          <a:xfrm>
            <a:off x="491452" y="3225519"/>
            <a:ext cx="5238894" cy="3835961"/>
            <a:chOff x="0" y="0"/>
            <a:chExt cx="1379791" cy="1010294"/>
          </a:xfrm>
        </p:grpSpPr>
        <p:sp>
          <p:nvSpPr>
            <p:cNvPr id="9" name="Freeform 9"/>
            <p:cNvSpPr/>
            <p:nvPr/>
          </p:nvSpPr>
          <p:spPr>
            <a:xfrm>
              <a:off x="0" y="0"/>
              <a:ext cx="1379791" cy="1010294"/>
            </a:xfrm>
            <a:custGeom>
              <a:avLst/>
              <a:gdLst/>
              <a:ahLst/>
              <a:cxnLst/>
              <a:rect l="l" t="t" r="r" b="b"/>
              <a:pathLst>
                <a:path w="1379791" h="1010294">
                  <a:moveTo>
                    <a:pt x="75367" y="0"/>
                  </a:moveTo>
                  <a:lnTo>
                    <a:pt x="1304424" y="0"/>
                  </a:lnTo>
                  <a:cubicBezTo>
                    <a:pt x="1324413" y="0"/>
                    <a:pt x="1343583" y="7940"/>
                    <a:pt x="1357717" y="22074"/>
                  </a:cubicBezTo>
                  <a:cubicBezTo>
                    <a:pt x="1371851" y="36208"/>
                    <a:pt x="1379791" y="55378"/>
                    <a:pt x="1379791" y="75367"/>
                  </a:cubicBezTo>
                  <a:lnTo>
                    <a:pt x="1379791" y="934928"/>
                  </a:lnTo>
                  <a:cubicBezTo>
                    <a:pt x="1379791" y="976552"/>
                    <a:pt x="1346048" y="1010294"/>
                    <a:pt x="1304424" y="1010294"/>
                  </a:cubicBezTo>
                  <a:lnTo>
                    <a:pt x="75367" y="1010294"/>
                  </a:lnTo>
                  <a:cubicBezTo>
                    <a:pt x="55378" y="1010294"/>
                    <a:pt x="36208" y="1002354"/>
                    <a:pt x="22074" y="988220"/>
                  </a:cubicBezTo>
                  <a:cubicBezTo>
                    <a:pt x="7940" y="974086"/>
                    <a:pt x="0" y="954916"/>
                    <a:pt x="0" y="934928"/>
                  </a:cubicBezTo>
                  <a:lnTo>
                    <a:pt x="0" y="75367"/>
                  </a:lnTo>
                  <a:cubicBezTo>
                    <a:pt x="0" y="33743"/>
                    <a:pt x="33743" y="0"/>
                    <a:pt x="75367" y="0"/>
                  </a:cubicBezTo>
                  <a:close/>
                </a:path>
              </a:pathLst>
            </a:custGeom>
            <a:solidFill>
              <a:srgbClr val="454545">
                <a:alpha val="49804"/>
              </a:srgbClr>
            </a:solidFill>
          </p:spPr>
        </p:sp>
        <p:sp>
          <p:nvSpPr>
            <p:cNvPr id="10" name="TextBox 10"/>
            <p:cNvSpPr txBox="1"/>
            <p:nvPr/>
          </p:nvSpPr>
          <p:spPr>
            <a:xfrm>
              <a:off x="0" y="-85725"/>
              <a:ext cx="1379791" cy="1096019"/>
            </a:xfrm>
            <a:prstGeom prst="rect">
              <a:avLst/>
            </a:prstGeom>
          </p:spPr>
          <p:txBody>
            <a:bodyPr lIns="50800" tIns="50800" rIns="50800" bIns="50800" rtlCol="0" anchor="ctr"/>
            <a:lstStyle/>
            <a:p>
              <a:pPr algn="ctr">
                <a:lnSpc>
                  <a:spcPts val="2927"/>
                </a:lnSpc>
              </a:pPr>
              <a:endParaRPr/>
            </a:p>
          </p:txBody>
        </p:sp>
      </p:grpSp>
      <p:sp>
        <p:nvSpPr>
          <p:cNvPr id="11" name="Freeform 11"/>
          <p:cNvSpPr/>
          <p:nvPr/>
        </p:nvSpPr>
        <p:spPr>
          <a:xfrm flipH="1">
            <a:off x="-180480" y="6436499"/>
            <a:ext cx="2418361" cy="1249964"/>
          </a:xfrm>
          <a:custGeom>
            <a:avLst/>
            <a:gdLst/>
            <a:ahLst/>
            <a:cxnLst/>
            <a:rect l="l" t="t" r="r" b="b"/>
            <a:pathLst>
              <a:path w="2418361" h="1249964">
                <a:moveTo>
                  <a:pt x="2418360" y="0"/>
                </a:moveTo>
                <a:lnTo>
                  <a:pt x="0" y="0"/>
                </a:lnTo>
                <a:lnTo>
                  <a:pt x="0" y="1249963"/>
                </a:lnTo>
                <a:lnTo>
                  <a:pt x="2418360" y="1249963"/>
                </a:lnTo>
                <a:lnTo>
                  <a:pt x="2418360" y="0"/>
                </a:lnTo>
                <a:close/>
              </a:path>
            </a:pathLst>
          </a:custGeom>
          <a:blipFill>
            <a:blip r:embed="rId4"/>
            <a:stretch>
              <a:fillRect l="-11029" t="-147413" b="-134477"/>
            </a:stretch>
          </a:blipFill>
        </p:spPr>
      </p:sp>
      <p:sp>
        <p:nvSpPr>
          <p:cNvPr id="12" name="Freeform 12"/>
          <p:cNvSpPr/>
          <p:nvPr/>
        </p:nvSpPr>
        <p:spPr>
          <a:xfrm>
            <a:off x="4210972" y="2798608"/>
            <a:ext cx="2418361" cy="1249964"/>
          </a:xfrm>
          <a:custGeom>
            <a:avLst/>
            <a:gdLst/>
            <a:ahLst/>
            <a:cxnLst/>
            <a:rect l="l" t="t" r="r" b="b"/>
            <a:pathLst>
              <a:path w="2418361" h="1249964">
                <a:moveTo>
                  <a:pt x="0" y="0"/>
                </a:moveTo>
                <a:lnTo>
                  <a:pt x="2418360" y="0"/>
                </a:lnTo>
                <a:lnTo>
                  <a:pt x="2418360" y="1249964"/>
                </a:lnTo>
                <a:lnTo>
                  <a:pt x="0" y="1249964"/>
                </a:lnTo>
                <a:lnTo>
                  <a:pt x="0" y="0"/>
                </a:lnTo>
                <a:close/>
              </a:path>
            </a:pathLst>
          </a:custGeom>
          <a:blipFill>
            <a:blip r:embed="rId4"/>
            <a:stretch>
              <a:fillRect l="-11029" t="-147413" b="-134477"/>
            </a:stretch>
          </a:blipFill>
        </p:spPr>
      </p:sp>
      <p:sp>
        <p:nvSpPr>
          <p:cNvPr id="13" name="TextBox 13"/>
          <p:cNvSpPr txBox="1"/>
          <p:nvPr/>
        </p:nvSpPr>
        <p:spPr>
          <a:xfrm>
            <a:off x="436368" y="4628197"/>
            <a:ext cx="5238894"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Vocalizações: 854</a:t>
            </a:r>
          </a:p>
        </p:txBody>
      </p:sp>
      <p:sp>
        <p:nvSpPr>
          <p:cNvPr id="14" name="CaixaDeTexto 13">
            <a:extLst>
              <a:ext uri="{FF2B5EF4-FFF2-40B4-BE49-F238E27FC236}">
                <a16:creationId xmlns:a16="http://schemas.microsoft.com/office/drawing/2014/main" id="{05038AB0-6903-4B01-FE9A-6A28F55B7DC9}"/>
              </a:ext>
            </a:extLst>
          </p:cNvPr>
          <p:cNvSpPr txBox="1"/>
          <p:nvPr/>
        </p:nvSpPr>
        <p:spPr>
          <a:xfrm>
            <a:off x="493847" y="5427145"/>
            <a:ext cx="5235765" cy="459998"/>
          </a:xfrm>
          <a:prstGeom prst="rect">
            <a:avLst/>
          </a:prstGeom>
        </p:spPr>
        <p:txBody>
          <a:bodyPr lIns="0" tIns="0" rIns="0" bIns="0" rtlCol="0" anchor="t">
            <a:spAutoFit/>
          </a:bodyPr>
          <a:lstStyle/>
          <a:p>
            <a:pPr marL="580772" lvl="1" indent="-290386">
              <a:lnSpc>
                <a:spcPts val="3766"/>
              </a:lnSpc>
              <a:buFont typeface="Arial"/>
              <a:buChar char="•"/>
            </a:pPr>
            <a:r>
              <a:rPr lang="pt-BR" sz="2690">
                <a:solidFill>
                  <a:srgbClr val="000000"/>
                </a:solidFill>
                <a:latin typeface="Arial MT Pro"/>
              </a:rPr>
              <a:t>Tempo de triagem: 26 horas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4">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4">
              <a:alphaModFix amt="24000"/>
            </a:blip>
            <a:stretch>
              <a:fillRect l="-11770" t="-157615" r="-5899" b="-148313"/>
            </a:stretch>
          </a:blipFill>
        </p:spPr>
      </p:sp>
      <p:sp>
        <p:nvSpPr>
          <p:cNvPr id="4" name="TextBox 4"/>
          <p:cNvSpPr txBox="1"/>
          <p:nvPr/>
        </p:nvSpPr>
        <p:spPr>
          <a:xfrm>
            <a:off x="910396" y="141576"/>
            <a:ext cx="4355168"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Resultados</a:t>
            </a:r>
          </a:p>
        </p:txBody>
      </p:sp>
      <p:sp>
        <p:nvSpPr>
          <p:cNvPr id="5" name="TextBox 5"/>
          <p:cNvSpPr txBox="1"/>
          <p:nvPr/>
        </p:nvSpPr>
        <p:spPr>
          <a:xfrm>
            <a:off x="7974154" y="6771827"/>
            <a:ext cx="2339692" cy="388568"/>
          </a:xfrm>
          <a:prstGeom prst="rect">
            <a:avLst/>
          </a:prstGeom>
        </p:spPr>
        <p:txBody>
          <a:bodyPr lIns="0" tIns="0" rIns="0" bIns="0" rtlCol="0" anchor="t">
            <a:spAutoFit/>
          </a:bodyPr>
          <a:lstStyle/>
          <a:p>
            <a:pPr algn="l">
              <a:lnSpc>
                <a:spcPts val="3220"/>
              </a:lnSpc>
            </a:pPr>
            <a:r>
              <a:rPr lang="en-US" sz="2300" b="1" dirty="0" err="1">
                <a:solidFill>
                  <a:srgbClr val="000000"/>
                </a:solidFill>
                <a:latin typeface="Arial MT Pro Bold"/>
                <a:ea typeface="Arial MT Pro Bold"/>
                <a:cs typeface="Arial MT Pro Bold"/>
                <a:sym typeface="Arial MT Pro Bold"/>
              </a:rPr>
              <a:t>Figura</a:t>
            </a:r>
            <a:r>
              <a:rPr lang="en-US" sz="2300" b="1" dirty="0">
                <a:solidFill>
                  <a:srgbClr val="000000"/>
                </a:solidFill>
                <a:latin typeface="Arial MT Pro Bold"/>
                <a:ea typeface="Arial MT Pro Bold"/>
                <a:cs typeface="Arial MT Pro Bold"/>
                <a:sym typeface="Arial MT Pro Bold"/>
              </a:rPr>
              <a:t> 8:</a:t>
            </a:r>
            <a:r>
              <a:rPr lang="en-US" sz="2300" dirty="0">
                <a:solidFill>
                  <a:srgbClr val="000000"/>
                </a:solidFill>
                <a:latin typeface="Arial MT Pro"/>
                <a:ea typeface="Arial MT Pro"/>
                <a:cs typeface="Arial MT Pro"/>
                <a:sym typeface="Arial MT Pro"/>
              </a:rPr>
              <a:t>Tipo 3.</a:t>
            </a:r>
          </a:p>
        </p:txBody>
      </p:sp>
      <p:sp>
        <p:nvSpPr>
          <p:cNvPr id="6" name="TextBox 6"/>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12.</a:t>
            </a:r>
          </a:p>
        </p:txBody>
      </p:sp>
      <p:pic>
        <p:nvPicPr>
          <p:cNvPr id="7" name="Picture 7">
            <a:hlinkClick r:id="" action="ppaction://media"/>
          </p:cNvPr>
          <p:cNvPicPr>
            <a:picLocks noChangeAspect="1"/>
          </p:cNvPicPr>
          <p:nvPr>
            <a:videoFile r:link="rId1"/>
            <p:extLst>
              <p:ext uri="{DAA4B4D4-6D71-4841-9C94-3DE7FCFB9230}">
                <p14:media xmlns:p14="http://schemas.microsoft.com/office/powerpoint/2010/main" r:embed="rId2">
                  <p14:trim st="3910" end="6994.7"/>
                </p14:media>
              </p:ext>
            </p:extLst>
          </p:nvPr>
        </p:nvPicPr>
        <p:blipFill>
          <a:blip r:embed="rId5"/>
          <a:srcRect l="16240" t="36978" r="19301" b="30812"/>
          <a:stretch>
            <a:fillRect/>
          </a:stretch>
        </p:blipFill>
        <p:spPr>
          <a:xfrm>
            <a:off x="4367626" y="3686623"/>
            <a:ext cx="9552747" cy="2913754"/>
          </a:xfrm>
          <a:prstGeom prst="rect">
            <a:avLst/>
          </a:prstGeom>
          <a:ln w="47625" cap="sq">
            <a:solidFill>
              <a:srgbClr val="000000"/>
            </a:solidFill>
            <a:prstDash val="solid"/>
          </a:ln>
        </p:spPr>
      </p:pic>
    </p:spTree>
  </p:cSld>
  <p:clrMapOvr>
    <a:masterClrMapping/>
  </p:clrMapOvr>
  <p:timing>
    <p:tnLst>
      <p:par>
        <p:cTn id="1" dur="indefinite" restart="never" nodeType="tmRoot">
          <p:childTnLst>
            <p:video>
              <p:cMediaNode vol="0">
                <p:cTn id="2" fill="hold" display="0">
                  <p:stCondLst>
                    <p:cond delay="indefinite"/>
                  </p:stCondLst>
                </p:cTn>
                <p:tgtEl>
                  <p:spTgt spid="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Freeform 4"/>
          <p:cNvSpPr/>
          <p:nvPr/>
        </p:nvSpPr>
        <p:spPr>
          <a:xfrm>
            <a:off x="3571726" y="1912078"/>
            <a:ext cx="11144549" cy="6462844"/>
          </a:xfrm>
          <a:custGeom>
            <a:avLst/>
            <a:gdLst/>
            <a:ahLst/>
            <a:cxnLst/>
            <a:rect l="l" t="t" r="r" b="b"/>
            <a:pathLst>
              <a:path w="11144549" h="6462844">
                <a:moveTo>
                  <a:pt x="0" y="0"/>
                </a:moveTo>
                <a:lnTo>
                  <a:pt x="11144548" y="0"/>
                </a:lnTo>
                <a:lnTo>
                  <a:pt x="11144548" y="6462844"/>
                </a:lnTo>
                <a:lnTo>
                  <a:pt x="0" y="6462844"/>
                </a:lnTo>
                <a:lnTo>
                  <a:pt x="0" y="0"/>
                </a:lnTo>
                <a:close/>
              </a:path>
            </a:pathLst>
          </a:custGeom>
          <a:blipFill>
            <a:blip r:embed="rId3"/>
            <a:stretch>
              <a:fillRect t="-9715"/>
            </a:stretch>
          </a:blipFill>
          <a:ln w="47625" cap="sq">
            <a:solidFill>
              <a:srgbClr val="000000"/>
            </a:solidFill>
            <a:prstDash val="solid"/>
            <a:miter/>
          </a:ln>
        </p:spPr>
      </p:sp>
      <p:sp>
        <p:nvSpPr>
          <p:cNvPr id="5" name="TextBox 5"/>
          <p:cNvSpPr txBox="1"/>
          <p:nvPr/>
        </p:nvSpPr>
        <p:spPr>
          <a:xfrm>
            <a:off x="910396" y="141576"/>
            <a:ext cx="4286313"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Resultados</a:t>
            </a:r>
          </a:p>
        </p:txBody>
      </p:sp>
      <p:sp>
        <p:nvSpPr>
          <p:cNvPr id="6" name="TextBox 6"/>
          <p:cNvSpPr txBox="1"/>
          <p:nvPr/>
        </p:nvSpPr>
        <p:spPr>
          <a:xfrm>
            <a:off x="5199271" y="8501410"/>
            <a:ext cx="7889458" cy="387927"/>
          </a:xfrm>
          <a:prstGeom prst="rect">
            <a:avLst/>
          </a:prstGeom>
        </p:spPr>
        <p:txBody>
          <a:bodyPr lIns="0" tIns="0" rIns="0" bIns="0" rtlCol="0" anchor="t">
            <a:spAutoFit/>
          </a:bodyPr>
          <a:lstStyle/>
          <a:p>
            <a:pPr>
              <a:lnSpc>
                <a:spcPts val="3220"/>
              </a:lnSpc>
            </a:pPr>
            <a:r>
              <a:rPr lang="en-US" sz="2300" b="1" dirty="0" err="1">
                <a:solidFill>
                  <a:srgbClr val="000000"/>
                </a:solidFill>
                <a:latin typeface="Arial MT Pro Bold"/>
                <a:ea typeface="Arial MT Pro Bold"/>
                <a:cs typeface="Arial MT Pro Bold"/>
                <a:sym typeface="Arial MT Pro Bold"/>
              </a:rPr>
              <a:t>Figura</a:t>
            </a:r>
            <a:r>
              <a:rPr lang="en-US" sz="2300" b="1">
                <a:solidFill>
                  <a:srgbClr val="000000"/>
                </a:solidFill>
                <a:latin typeface="Arial MT Pro Bold"/>
                <a:ea typeface="Arial MT Pro Bold"/>
                <a:cs typeface="Arial MT Pro Bold"/>
                <a:sym typeface="Arial MT Pro Bold"/>
              </a:rPr>
              <a:t> 9:</a:t>
            </a:r>
            <a:r>
              <a:rPr lang="en-US" sz="2300">
                <a:solidFill>
                  <a:srgbClr val="000000"/>
                </a:solidFill>
                <a:latin typeface="Arial MT Pro"/>
                <a:ea typeface="Arial MT Pro"/>
                <a:cs typeface="Arial MT Pro"/>
                <a:sym typeface="Arial MT Pro"/>
              </a:rPr>
              <a:t>Quantidade de </a:t>
            </a:r>
            <a:r>
              <a:rPr lang="en-US" sz="2300" dirty="0" err="1">
                <a:solidFill>
                  <a:srgbClr val="000000"/>
                </a:solidFill>
                <a:latin typeface="Arial MT Pro"/>
                <a:ea typeface="Arial MT Pro"/>
                <a:cs typeface="Arial MT Pro"/>
                <a:sym typeface="Arial MT Pro"/>
              </a:rPr>
              <a:t>vocalizações</a:t>
            </a:r>
            <a:r>
              <a:rPr lang="en-US" sz="2300" dirty="0">
                <a:solidFill>
                  <a:srgbClr val="000000"/>
                </a:solidFill>
                <a:latin typeface="Arial MT Pro"/>
                <a:ea typeface="Arial MT Pro"/>
                <a:cs typeface="Arial MT Pro"/>
                <a:sym typeface="Arial MT Pro"/>
              </a:rPr>
              <a:t> com </a:t>
            </a:r>
            <a:r>
              <a:rPr lang="en-US" sz="2300" dirty="0" err="1">
                <a:solidFill>
                  <a:srgbClr val="000000"/>
                </a:solidFill>
                <a:latin typeface="Arial MT Pro"/>
                <a:ea typeface="Arial MT Pro"/>
                <a:cs typeface="Arial MT Pro"/>
                <a:sym typeface="Arial MT Pro"/>
              </a:rPr>
              <a:t>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tipos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vocais</a:t>
            </a:r>
            <a:r>
              <a:rPr lang="en-US" sz="2300" dirty="0">
                <a:solidFill>
                  <a:srgbClr val="000000"/>
                </a:solidFill>
                <a:latin typeface="Arial MT Pro"/>
                <a:ea typeface="Arial MT Pro"/>
                <a:cs typeface="Arial MT Pro"/>
                <a:sym typeface="Arial MT Pro"/>
              </a:rPr>
              <a:t>.</a:t>
            </a:r>
            <a:endParaRPr lang="en-US"/>
          </a:p>
        </p:txBody>
      </p:sp>
      <p:sp>
        <p:nvSpPr>
          <p:cNvPr id="7" name="TextBox 7"/>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Freeform 4"/>
          <p:cNvSpPr/>
          <p:nvPr/>
        </p:nvSpPr>
        <p:spPr>
          <a:xfrm>
            <a:off x="2112161" y="1912078"/>
            <a:ext cx="14063677" cy="6462844"/>
          </a:xfrm>
          <a:custGeom>
            <a:avLst/>
            <a:gdLst/>
            <a:ahLst/>
            <a:cxnLst/>
            <a:rect l="l" t="t" r="r" b="b"/>
            <a:pathLst>
              <a:path w="14063677" h="6462844">
                <a:moveTo>
                  <a:pt x="0" y="0"/>
                </a:moveTo>
                <a:lnTo>
                  <a:pt x="14063678" y="0"/>
                </a:lnTo>
                <a:lnTo>
                  <a:pt x="14063678" y="6462844"/>
                </a:lnTo>
                <a:lnTo>
                  <a:pt x="0" y="6462844"/>
                </a:lnTo>
                <a:lnTo>
                  <a:pt x="0" y="0"/>
                </a:lnTo>
                <a:close/>
              </a:path>
            </a:pathLst>
          </a:custGeom>
          <a:blipFill>
            <a:blip r:embed="rId3"/>
            <a:stretch>
              <a:fillRect t="-8804"/>
            </a:stretch>
          </a:blipFill>
          <a:ln w="47625" cap="sq">
            <a:solidFill>
              <a:srgbClr val="000000"/>
            </a:solidFill>
            <a:prstDash val="solid"/>
            <a:miter/>
          </a:ln>
        </p:spPr>
      </p:sp>
      <p:sp>
        <p:nvSpPr>
          <p:cNvPr id="5" name="TextBox 5"/>
          <p:cNvSpPr txBox="1"/>
          <p:nvPr/>
        </p:nvSpPr>
        <p:spPr>
          <a:xfrm>
            <a:off x="910396" y="141576"/>
            <a:ext cx="4300084"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Resultados</a:t>
            </a:r>
          </a:p>
        </p:txBody>
      </p:sp>
      <p:sp>
        <p:nvSpPr>
          <p:cNvPr id="6" name="TextBox 6"/>
          <p:cNvSpPr txBox="1"/>
          <p:nvPr/>
        </p:nvSpPr>
        <p:spPr>
          <a:xfrm>
            <a:off x="2793727" y="8384066"/>
            <a:ext cx="12700546" cy="798937"/>
          </a:xfrm>
          <a:prstGeom prst="rect">
            <a:avLst/>
          </a:prstGeom>
        </p:spPr>
        <p:txBody>
          <a:bodyPr lIns="0" tIns="0" rIns="0" bIns="0" rtlCol="0" anchor="t">
            <a:spAutoFit/>
          </a:bodyPr>
          <a:lstStyle/>
          <a:p>
            <a:pPr algn="l">
              <a:lnSpc>
                <a:spcPts val="3220"/>
              </a:lnSpc>
            </a:pPr>
            <a:r>
              <a:rPr lang="en-US" sz="2300" b="1" dirty="0" err="1">
                <a:solidFill>
                  <a:srgbClr val="000000"/>
                </a:solidFill>
                <a:latin typeface="Arial MT Pro Bold"/>
                <a:ea typeface="Arial MT Pro Bold"/>
                <a:cs typeface="Arial MT Pro Bold"/>
                <a:sym typeface="Arial MT Pro Bold"/>
              </a:rPr>
              <a:t>Figura</a:t>
            </a:r>
            <a:r>
              <a:rPr lang="en-US" sz="2300" b="1" dirty="0">
                <a:solidFill>
                  <a:srgbClr val="000000"/>
                </a:solidFill>
                <a:latin typeface="Arial MT Pro Bold"/>
                <a:ea typeface="Arial MT Pro Bold"/>
                <a:cs typeface="Arial MT Pro Bold"/>
                <a:sym typeface="Arial MT Pro Bold"/>
              </a:rPr>
              <a:t> 10:</a:t>
            </a:r>
            <a:r>
              <a:rPr lang="en-US" sz="2300" dirty="0">
                <a:solidFill>
                  <a:srgbClr val="000000"/>
                </a:solidFill>
                <a:latin typeface="Arial MT Pro"/>
                <a:ea typeface="Arial MT Pro"/>
                <a:cs typeface="Arial MT Pro"/>
                <a:sym typeface="Arial MT Pro"/>
              </a:rPr>
              <a:t>Quantidade de </a:t>
            </a:r>
            <a:r>
              <a:rPr lang="en-US" sz="2300" dirty="0" err="1">
                <a:solidFill>
                  <a:srgbClr val="000000"/>
                </a:solidFill>
                <a:latin typeface="Arial MT Pro"/>
                <a:ea typeface="Arial MT Pro"/>
                <a:cs typeface="Arial MT Pro"/>
                <a:sym typeface="Arial MT Pro"/>
              </a:rPr>
              <a:t>vocalizações</a:t>
            </a:r>
            <a:r>
              <a:rPr lang="en-US" sz="2300" dirty="0">
                <a:solidFill>
                  <a:srgbClr val="000000"/>
                </a:solidFill>
                <a:latin typeface="Arial MT Pro"/>
                <a:ea typeface="Arial MT Pro"/>
                <a:cs typeface="Arial MT Pro"/>
                <a:sym typeface="Arial MT Pro"/>
              </a:rPr>
              <a:t> com </a:t>
            </a:r>
            <a:r>
              <a:rPr lang="en-US" sz="2300" dirty="0" err="1">
                <a:solidFill>
                  <a:srgbClr val="000000"/>
                </a:solidFill>
                <a:latin typeface="Arial MT Pro"/>
                <a:ea typeface="Arial MT Pro"/>
                <a:cs typeface="Arial MT Pro"/>
                <a:sym typeface="Arial MT Pro"/>
              </a:rPr>
              <a:t>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tipos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separados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por</a:t>
            </a:r>
            <a:r>
              <a:rPr lang="en-US" sz="2300" dirty="0">
                <a:solidFill>
                  <a:srgbClr val="000000"/>
                </a:solidFill>
                <a:latin typeface="Arial MT Pro"/>
                <a:ea typeface="Arial MT Pro"/>
                <a:cs typeface="Arial MT Pro"/>
                <a:sym typeface="Arial MT Pro"/>
              </a:rPr>
              <a:t> ambientes de </a:t>
            </a:r>
            <a:r>
              <a:rPr lang="en-US" sz="2300" dirty="0" err="1">
                <a:solidFill>
                  <a:srgbClr val="000000"/>
                </a:solidFill>
                <a:latin typeface="Arial MT Pro"/>
                <a:ea typeface="Arial MT Pro"/>
                <a:cs typeface="Arial MT Pro"/>
                <a:sym typeface="Arial MT Pro"/>
              </a:rPr>
              <a:t>gravações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externos</a:t>
            </a:r>
            <a:r>
              <a:rPr lang="en-US" sz="2300" dirty="0">
                <a:solidFill>
                  <a:srgbClr val="000000"/>
                </a:solidFill>
                <a:latin typeface="Arial MT Pro"/>
                <a:ea typeface="Arial MT Pro"/>
                <a:cs typeface="Arial MT Pro"/>
                <a:sym typeface="Arial MT Pro"/>
              </a:rPr>
              <a:t> e </a:t>
            </a:r>
            <a:r>
              <a:rPr lang="en-US" sz="2300" dirty="0" err="1">
                <a:solidFill>
                  <a:srgbClr val="000000"/>
                </a:solidFill>
                <a:latin typeface="Arial MT Pro"/>
                <a:ea typeface="Arial MT Pro"/>
                <a:cs typeface="Arial MT Pro"/>
                <a:sym typeface="Arial MT Pro"/>
              </a:rPr>
              <a:t>internos</a:t>
            </a:r>
            <a:r>
              <a:rPr lang="en-US" sz="2300" dirty="0">
                <a:solidFill>
                  <a:srgbClr val="000000"/>
                </a:solidFill>
                <a:latin typeface="Arial MT Pro"/>
                <a:ea typeface="Arial MT Pro"/>
                <a:cs typeface="Arial MT Pro"/>
                <a:sym typeface="Arial MT Pro"/>
              </a:rPr>
              <a:t>.</a:t>
            </a:r>
          </a:p>
        </p:txBody>
      </p:sp>
      <p:sp>
        <p:nvSpPr>
          <p:cNvPr id="7" name="TextBox 7"/>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3" name="Freeform 3"/>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4" name="Freeform 4"/>
          <p:cNvSpPr/>
          <p:nvPr/>
        </p:nvSpPr>
        <p:spPr>
          <a:xfrm>
            <a:off x="1290929" y="2019960"/>
            <a:ext cx="15706143" cy="6247080"/>
          </a:xfrm>
          <a:custGeom>
            <a:avLst/>
            <a:gdLst/>
            <a:ahLst/>
            <a:cxnLst/>
            <a:rect l="l" t="t" r="r" b="b"/>
            <a:pathLst>
              <a:path w="15706143" h="6247080">
                <a:moveTo>
                  <a:pt x="0" y="0"/>
                </a:moveTo>
                <a:lnTo>
                  <a:pt x="15706142" y="0"/>
                </a:lnTo>
                <a:lnTo>
                  <a:pt x="15706142" y="6247080"/>
                </a:lnTo>
                <a:lnTo>
                  <a:pt x="0" y="6247080"/>
                </a:lnTo>
                <a:lnTo>
                  <a:pt x="0" y="0"/>
                </a:lnTo>
                <a:close/>
              </a:path>
            </a:pathLst>
          </a:custGeom>
          <a:blipFill>
            <a:blip r:embed="rId3"/>
            <a:stretch>
              <a:fillRect t="-9994"/>
            </a:stretch>
          </a:blipFill>
          <a:ln w="47625" cap="sq">
            <a:solidFill>
              <a:srgbClr val="000000"/>
            </a:solidFill>
            <a:prstDash val="solid"/>
            <a:miter/>
          </a:ln>
        </p:spPr>
      </p:sp>
      <p:sp>
        <p:nvSpPr>
          <p:cNvPr id="5" name="TextBox 5"/>
          <p:cNvSpPr txBox="1"/>
          <p:nvPr/>
        </p:nvSpPr>
        <p:spPr>
          <a:xfrm>
            <a:off x="17259300" y="9115425"/>
            <a:ext cx="896761"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15.</a:t>
            </a:r>
          </a:p>
        </p:txBody>
      </p:sp>
      <p:sp>
        <p:nvSpPr>
          <p:cNvPr id="6" name="TextBox 6"/>
          <p:cNvSpPr txBox="1"/>
          <p:nvPr/>
        </p:nvSpPr>
        <p:spPr>
          <a:xfrm>
            <a:off x="910396" y="141576"/>
            <a:ext cx="4203686"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Resultados</a:t>
            </a:r>
          </a:p>
        </p:txBody>
      </p:sp>
      <p:sp>
        <p:nvSpPr>
          <p:cNvPr id="7" name="TextBox 7"/>
          <p:cNvSpPr txBox="1"/>
          <p:nvPr/>
        </p:nvSpPr>
        <p:spPr>
          <a:xfrm>
            <a:off x="5639309" y="8423180"/>
            <a:ext cx="7009381" cy="388568"/>
          </a:xfrm>
          <a:prstGeom prst="rect">
            <a:avLst/>
          </a:prstGeom>
        </p:spPr>
        <p:txBody>
          <a:bodyPr lIns="0" tIns="0" rIns="0" bIns="0" rtlCol="0" anchor="t">
            <a:spAutoFit/>
          </a:bodyPr>
          <a:lstStyle/>
          <a:p>
            <a:pPr algn="l">
              <a:lnSpc>
                <a:spcPts val="3220"/>
              </a:lnSpc>
            </a:pPr>
            <a:r>
              <a:rPr lang="en-US" sz="2300" b="1" dirty="0" err="1">
                <a:solidFill>
                  <a:srgbClr val="000000"/>
                </a:solidFill>
                <a:latin typeface="Arial MT Pro Bold"/>
                <a:ea typeface="Arial MT Pro Bold"/>
                <a:cs typeface="Arial MT Pro Bold"/>
                <a:sym typeface="Arial MT Pro Bold"/>
              </a:rPr>
              <a:t>Figura</a:t>
            </a:r>
            <a:r>
              <a:rPr lang="en-US" sz="2300" b="1" dirty="0">
                <a:solidFill>
                  <a:srgbClr val="000000"/>
                </a:solidFill>
                <a:latin typeface="Arial MT Pro Bold"/>
                <a:ea typeface="Arial MT Pro Bold"/>
                <a:cs typeface="Arial MT Pro Bold"/>
                <a:sym typeface="Arial MT Pro Bold"/>
              </a:rPr>
              <a:t> 11:</a:t>
            </a:r>
            <a:r>
              <a:rPr lang="en-US" sz="2300" dirty="0">
                <a:solidFill>
                  <a:srgbClr val="000000"/>
                </a:solidFill>
                <a:latin typeface="Arial MT Pro"/>
                <a:ea typeface="Arial MT Pro"/>
                <a:cs typeface="Arial MT Pro"/>
                <a:sym typeface="Arial MT Pro"/>
              </a:rPr>
              <a:t>PCA dos </a:t>
            </a:r>
            <a:r>
              <a:rPr lang="en-US" sz="2300" dirty="0" err="1">
                <a:solidFill>
                  <a:srgbClr val="000000"/>
                </a:solidFill>
                <a:latin typeface="Arial MT Pro"/>
                <a:ea typeface="Arial MT Pro"/>
                <a:cs typeface="Arial MT Pro"/>
                <a:sym typeface="Arial MT Pro"/>
              </a:rPr>
              <a:t>tipos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manuais</a:t>
            </a:r>
            <a:r>
              <a:rPr lang="en-US" sz="2300" dirty="0">
                <a:solidFill>
                  <a:srgbClr val="000000"/>
                </a:solidFill>
                <a:latin typeface="Arial MT Pro"/>
                <a:ea typeface="Arial MT Pro"/>
                <a:cs typeface="Arial MT Pro"/>
                <a:sym typeface="Arial MT Pro"/>
              </a:rPr>
              <a:t> e </a:t>
            </a:r>
            <a:r>
              <a:rPr lang="en-US" sz="2300" dirty="0" err="1">
                <a:solidFill>
                  <a:srgbClr val="000000"/>
                </a:solidFill>
                <a:latin typeface="Arial MT Pro"/>
                <a:ea typeface="Arial MT Pro"/>
                <a:cs typeface="Arial MT Pro"/>
                <a:sym typeface="Arial MT Pro"/>
              </a:rPr>
              <a:t>computacionais</a:t>
            </a:r>
            <a:r>
              <a:rPr lang="en-US" sz="2300" dirty="0">
                <a:solidFill>
                  <a:srgbClr val="000000"/>
                </a:solidFill>
                <a:latin typeface="Arial MT Pro"/>
                <a:ea typeface="Arial MT Pro"/>
                <a:cs typeface="Arial MT Pro"/>
                <a:sym typeface="Arial MT Pro"/>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Freeform 4"/>
          <p:cNvSpPr/>
          <p:nvPr/>
        </p:nvSpPr>
        <p:spPr>
          <a:xfrm>
            <a:off x="4663179" y="2127630"/>
            <a:ext cx="8961643" cy="6031740"/>
          </a:xfrm>
          <a:custGeom>
            <a:avLst/>
            <a:gdLst/>
            <a:ahLst/>
            <a:cxnLst/>
            <a:rect l="l" t="t" r="r" b="b"/>
            <a:pathLst>
              <a:path w="8961643" h="6031740">
                <a:moveTo>
                  <a:pt x="0" y="0"/>
                </a:moveTo>
                <a:lnTo>
                  <a:pt x="8961642" y="0"/>
                </a:lnTo>
                <a:lnTo>
                  <a:pt x="8961642" y="6031740"/>
                </a:lnTo>
                <a:lnTo>
                  <a:pt x="0" y="6031740"/>
                </a:lnTo>
                <a:lnTo>
                  <a:pt x="0" y="0"/>
                </a:lnTo>
                <a:close/>
              </a:path>
            </a:pathLst>
          </a:custGeom>
          <a:blipFill>
            <a:blip r:embed="rId3"/>
            <a:stretch>
              <a:fillRect t="-7964"/>
            </a:stretch>
          </a:blipFill>
          <a:ln w="47625" cap="sq">
            <a:solidFill>
              <a:srgbClr val="000000"/>
            </a:solidFill>
            <a:prstDash val="solid"/>
            <a:miter/>
          </a:ln>
        </p:spPr>
      </p:sp>
      <p:sp>
        <p:nvSpPr>
          <p:cNvPr id="5" name="TextBox 5"/>
          <p:cNvSpPr txBox="1"/>
          <p:nvPr/>
        </p:nvSpPr>
        <p:spPr>
          <a:xfrm>
            <a:off x="910396" y="141576"/>
            <a:ext cx="4244999"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Resultados</a:t>
            </a:r>
          </a:p>
        </p:txBody>
      </p:sp>
      <p:sp>
        <p:nvSpPr>
          <p:cNvPr id="6" name="TextBox 6"/>
          <p:cNvSpPr txBox="1"/>
          <p:nvPr/>
        </p:nvSpPr>
        <p:spPr>
          <a:xfrm>
            <a:off x="4663179" y="8326154"/>
            <a:ext cx="8961643" cy="798937"/>
          </a:xfrm>
          <a:prstGeom prst="rect">
            <a:avLst/>
          </a:prstGeom>
        </p:spPr>
        <p:txBody>
          <a:bodyPr lIns="0" tIns="0" rIns="0" bIns="0" rtlCol="0" anchor="t">
            <a:spAutoFit/>
          </a:bodyPr>
          <a:lstStyle/>
          <a:p>
            <a:pPr algn="l">
              <a:lnSpc>
                <a:spcPts val="3220"/>
              </a:lnSpc>
            </a:pPr>
            <a:r>
              <a:rPr lang="en-US" sz="2300" b="1" dirty="0" err="1">
                <a:solidFill>
                  <a:srgbClr val="000000"/>
                </a:solidFill>
                <a:latin typeface="Arial MT Pro Bold"/>
                <a:ea typeface="Arial MT Pro Bold"/>
                <a:cs typeface="Arial MT Pro Bold"/>
                <a:sym typeface="Arial MT Pro Bold"/>
              </a:rPr>
              <a:t>Figura</a:t>
            </a:r>
            <a:r>
              <a:rPr lang="en-US" sz="2300" b="1" dirty="0">
                <a:solidFill>
                  <a:srgbClr val="000000"/>
                </a:solidFill>
                <a:latin typeface="Arial MT Pro Bold"/>
                <a:ea typeface="Arial MT Pro Bold"/>
                <a:cs typeface="Arial MT Pro Bold"/>
                <a:sym typeface="Arial MT Pro Bold"/>
              </a:rPr>
              <a:t> 12:</a:t>
            </a:r>
            <a:r>
              <a:rPr lang="en-US" sz="2300" dirty="0">
                <a:solidFill>
                  <a:srgbClr val="000000"/>
                </a:solidFill>
                <a:latin typeface="Arial MT Pro"/>
                <a:ea typeface="Arial MT Pro"/>
                <a:cs typeface="Arial MT Pro"/>
                <a:sym typeface="Arial MT Pro"/>
              </a:rPr>
              <a:t>Fluxo das </a:t>
            </a:r>
            <a:r>
              <a:rPr lang="en-US" sz="2300" dirty="0" err="1">
                <a:solidFill>
                  <a:srgbClr val="000000"/>
                </a:solidFill>
                <a:latin typeface="Arial MT Pro"/>
                <a:ea typeface="Arial MT Pro"/>
                <a:cs typeface="Arial MT Pro"/>
                <a:sym typeface="Arial MT Pro"/>
              </a:rPr>
              <a:t>vocalizações</a:t>
            </a:r>
            <a:r>
              <a:rPr lang="en-US" sz="2300" dirty="0">
                <a:solidFill>
                  <a:srgbClr val="000000"/>
                </a:solidFill>
                <a:latin typeface="Arial MT Pro"/>
                <a:ea typeface="Arial MT Pro"/>
                <a:cs typeface="Arial MT Pro"/>
                <a:sym typeface="Arial MT Pro"/>
              </a:rPr>
              <a:t> entre </a:t>
            </a:r>
            <a:r>
              <a:rPr lang="en-US" sz="2300" dirty="0" err="1">
                <a:solidFill>
                  <a:srgbClr val="000000"/>
                </a:solidFill>
                <a:latin typeface="Arial MT Pro"/>
                <a:ea typeface="Arial MT Pro"/>
                <a:cs typeface="Arial MT Pro"/>
                <a:sym typeface="Arial MT Pro"/>
              </a:rPr>
              <a:t>tipos</a:t>
            </a:r>
            <a:r>
              <a:rPr lang="en-US" sz="2300" dirty="0">
                <a:solidFill>
                  <a:srgbClr val="000000"/>
                </a:solidFill>
                <a:latin typeface="Arial MT Pro"/>
                <a:ea typeface="Arial MT Pro"/>
                <a:cs typeface="Arial MT Pro"/>
                <a:sym typeface="Arial MT Pro"/>
              </a:rPr>
              <a:t> </a:t>
            </a:r>
            <a:r>
              <a:rPr lang="en-US" sz="2300" dirty="0" err="1">
                <a:solidFill>
                  <a:srgbClr val="000000"/>
                </a:solidFill>
                <a:latin typeface="Arial MT Pro"/>
                <a:ea typeface="Arial MT Pro"/>
                <a:cs typeface="Arial MT Pro"/>
                <a:sym typeface="Arial MT Pro"/>
              </a:rPr>
              <a:t>manuais</a:t>
            </a:r>
            <a:r>
              <a:rPr lang="en-US" sz="2300" dirty="0">
                <a:solidFill>
                  <a:srgbClr val="000000"/>
                </a:solidFill>
                <a:latin typeface="Arial MT Pro"/>
                <a:ea typeface="Arial MT Pro"/>
                <a:cs typeface="Arial MT Pro"/>
                <a:sym typeface="Arial MT Pro"/>
              </a:rPr>
              <a:t> e </a:t>
            </a:r>
            <a:r>
              <a:rPr lang="en-US" sz="2300" dirty="0" err="1">
                <a:solidFill>
                  <a:srgbClr val="000000"/>
                </a:solidFill>
                <a:latin typeface="Arial MT Pro"/>
                <a:ea typeface="Arial MT Pro"/>
                <a:cs typeface="Arial MT Pro"/>
                <a:sym typeface="Arial MT Pro"/>
              </a:rPr>
              <a:t>computacionais</a:t>
            </a:r>
            <a:endParaRPr lang="en-US" sz="2300" dirty="0" err="1">
              <a:solidFill>
                <a:srgbClr val="000000"/>
              </a:solidFill>
              <a:latin typeface="Arial MT Pro"/>
              <a:ea typeface="Arial MT Pro"/>
              <a:cs typeface="Arial MT Pro"/>
            </a:endParaRPr>
          </a:p>
        </p:txBody>
      </p:sp>
      <p:sp>
        <p:nvSpPr>
          <p:cNvPr id="7" name="TextBox 7"/>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TextBox 4"/>
          <p:cNvSpPr txBox="1"/>
          <p:nvPr/>
        </p:nvSpPr>
        <p:spPr>
          <a:xfrm>
            <a:off x="1051381" y="141576"/>
            <a:ext cx="4031885"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Discussão</a:t>
            </a:r>
          </a:p>
        </p:txBody>
      </p:sp>
      <p:grpSp>
        <p:nvGrpSpPr>
          <p:cNvPr id="5" name="Group 5"/>
          <p:cNvGrpSpPr/>
          <p:nvPr/>
        </p:nvGrpSpPr>
        <p:grpSpPr>
          <a:xfrm>
            <a:off x="1795016" y="1727604"/>
            <a:ext cx="6787834" cy="746620"/>
            <a:chOff x="0" y="0"/>
            <a:chExt cx="1787742" cy="196641"/>
          </a:xfrm>
        </p:grpSpPr>
        <p:sp>
          <p:nvSpPr>
            <p:cNvPr id="6" name="Freeform 6"/>
            <p:cNvSpPr/>
            <p:nvPr/>
          </p:nvSpPr>
          <p:spPr>
            <a:xfrm>
              <a:off x="0" y="0"/>
              <a:ext cx="1787742" cy="196641"/>
            </a:xfrm>
            <a:custGeom>
              <a:avLst/>
              <a:gdLst/>
              <a:ahLst/>
              <a:cxnLst/>
              <a:rect l="l" t="t" r="r" b="b"/>
              <a:pathLst>
                <a:path w="1787742" h="196641">
                  <a:moveTo>
                    <a:pt x="58168" y="0"/>
                  </a:moveTo>
                  <a:lnTo>
                    <a:pt x="1729574" y="0"/>
                  </a:lnTo>
                  <a:cubicBezTo>
                    <a:pt x="1761699" y="0"/>
                    <a:pt x="1787742" y="26043"/>
                    <a:pt x="1787742" y="58168"/>
                  </a:cubicBezTo>
                  <a:lnTo>
                    <a:pt x="1787742" y="138472"/>
                  </a:lnTo>
                  <a:cubicBezTo>
                    <a:pt x="1787742" y="170598"/>
                    <a:pt x="1761699" y="196641"/>
                    <a:pt x="1729574" y="196641"/>
                  </a:cubicBezTo>
                  <a:lnTo>
                    <a:pt x="58168" y="196641"/>
                  </a:lnTo>
                  <a:cubicBezTo>
                    <a:pt x="26043" y="196641"/>
                    <a:pt x="0" y="170598"/>
                    <a:pt x="0" y="138472"/>
                  </a:cubicBezTo>
                  <a:lnTo>
                    <a:pt x="0" y="58168"/>
                  </a:lnTo>
                  <a:cubicBezTo>
                    <a:pt x="0" y="26043"/>
                    <a:pt x="26043" y="0"/>
                    <a:pt x="58168" y="0"/>
                  </a:cubicBezTo>
                  <a:close/>
                </a:path>
              </a:pathLst>
            </a:custGeom>
            <a:solidFill>
              <a:srgbClr val="454545">
                <a:alpha val="49804"/>
              </a:srgbClr>
            </a:solidFill>
          </p:spPr>
        </p:sp>
        <p:sp>
          <p:nvSpPr>
            <p:cNvPr id="7" name="TextBox 7"/>
            <p:cNvSpPr txBox="1"/>
            <p:nvPr/>
          </p:nvSpPr>
          <p:spPr>
            <a:xfrm>
              <a:off x="0" y="-95250"/>
              <a:ext cx="1787742" cy="291891"/>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17.</a:t>
            </a:r>
          </a:p>
        </p:txBody>
      </p:sp>
      <p:grpSp>
        <p:nvGrpSpPr>
          <p:cNvPr id="9" name="Group 9"/>
          <p:cNvGrpSpPr/>
          <p:nvPr/>
        </p:nvGrpSpPr>
        <p:grpSpPr>
          <a:xfrm>
            <a:off x="1795016" y="5143500"/>
            <a:ext cx="6787834" cy="746620"/>
            <a:chOff x="0" y="0"/>
            <a:chExt cx="1787742" cy="196641"/>
          </a:xfrm>
        </p:grpSpPr>
        <p:sp>
          <p:nvSpPr>
            <p:cNvPr id="10" name="Freeform 10"/>
            <p:cNvSpPr/>
            <p:nvPr/>
          </p:nvSpPr>
          <p:spPr>
            <a:xfrm>
              <a:off x="0" y="0"/>
              <a:ext cx="1787742" cy="196641"/>
            </a:xfrm>
            <a:custGeom>
              <a:avLst/>
              <a:gdLst/>
              <a:ahLst/>
              <a:cxnLst/>
              <a:rect l="l" t="t" r="r" b="b"/>
              <a:pathLst>
                <a:path w="1787742" h="196641">
                  <a:moveTo>
                    <a:pt x="58168" y="0"/>
                  </a:moveTo>
                  <a:lnTo>
                    <a:pt x="1729574" y="0"/>
                  </a:lnTo>
                  <a:cubicBezTo>
                    <a:pt x="1761699" y="0"/>
                    <a:pt x="1787742" y="26043"/>
                    <a:pt x="1787742" y="58168"/>
                  </a:cubicBezTo>
                  <a:lnTo>
                    <a:pt x="1787742" y="138472"/>
                  </a:lnTo>
                  <a:cubicBezTo>
                    <a:pt x="1787742" y="170598"/>
                    <a:pt x="1761699" y="196641"/>
                    <a:pt x="1729574" y="196641"/>
                  </a:cubicBezTo>
                  <a:lnTo>
                    <a:pt x="58168" y="196641"/>
                  </a:lnTo>
                  <a:cubicBezTo>
                    <a:pt x="26043" y="196641"/>
                    <a:pt x="0" y="170598"/>
                    <a:pt x="0" y="138472"/>
                  </a:cubicBezTo>
                  <a:lnTo>
                    <a:pt x="0" y="58168"/>
                  </a:lnTo>
                  <a:cubicBezTo>
                    <a:pt x="0" y="26043"/>
                    <a:pt x="26043" y="0"/>
                    <a:pt x="58168" y="0"/>
                  </a:cubicBezTo>
                  <a:close/>
                </a:path>
              </a:pathLst>
            </a:custGeom>
            <a:solidFill>
              <a:srgbClr val="454545">
                <a:alpha val="49804"/>
              </a:srgbClr>
            </a:solidFill>
          </p:spPr>
        </p:sp>
        <p:sp>
          <p:nvSpPr>
            <p:cNvPr id="11" name="TextBox 11"/>
            <p:cNvSpPr txBox="1"/>
            <p:nvPr/>
          </p:nvSpPr>
          <p:spPr>
            <a:xfrm>
              <a:off x="0" y="-95250"/>
              <a:ext cx="1787742" cy="291891"/>
            </a:xfrm>
            <a:prstGeom prst="rect">
              <a:avLst/>
            </a:prstGeom>
          </p:spPr>
          <p:txBody>
            <a:bodyPr lIns="50800" tIns="50800" rIns="50800" bIns="50800" rtlCol="0" anchor="ctr"/>
            <a:lstStyle/>
            <a:p>
              <a:pPr algn="ctr">
                <a:lnSpc>
                  <a:spcPts val="3499"/>
                </a:lnSpc>
              </a:pPr>
              <a:endParaRPr/>
            </a:p>
          </p:txBody>
        </p:sp>
      </p:grpSp>
      <p:sp>
        <p:nvSpPr>
          <p:cNvPr id="12" name="TextBox 12"/>
          <p:cNvSpPr txBox="1"/>
          <p:nvPr/>
        </p:nvSpPr>
        <p:spPr>
          <a:xfrm>
            <a:off x="3473295" y="5208073"/>
            <a:ext cx="3431276"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Ambiente externo.</a:t>
            </a:r>
          </a:p>
        </p:txBody>
      </p:sp>
      <p:grpSp>
        <p:nvGrpSpPr>
          <p:cNvPr id="13" name="Group 13"/>
          <p:cNvGrpSpPr/>
          <p:nvPr/>
        </p:nvGrpSpPr>
        <p:grpSpPr>
          <a:xfrm>
            <a:off x="1795016" y="8511680"/>
            <a:ext cx="6787834" cy="746620"/>
            <a:chOff x="0" y="0"/>
            <a:chExt cx="1787742" cy="196641"/>
          </a:xfrm>
        </p:grpSpPr>
        <p:sp>
          <p:nvSpPr>
            <p:cNvPr id="14" name="Freeform 14"/>
            <p:cNvSpPr/>
            <p:nvPr/>
          </p:nvSpPr>
          <p:spPr>
            <a:xfrm>
              <a:off x="0" y="0"/>
              <a:ext cx="1787742" cy="196641"/>
            </a:xfrm>
            <a:custGeom>
              <a:avLst/>
              <a:gdLst/>
              <a:ahLst/>
              <a:cxnLst/>
              <a:rect l="l" t="t" r="r" b="b"/>
              <a:pathLst>
                <a:path w="1787742" h="196641">
                  <a:moveTo>
                    <a:pt x="58168" y="0"/>
                  </a:moveTo>
                  <a:lnTo>
                    <a:pt x="1729574" y="0"/>
                  </a:lnTo>
                  <a:cubicBezTo>
                    <a:pt x="1761699" y="0"/>
                    <a:pt x="1787742" y="26043"/>
                    <a:pt x="1787742" y="58168"/>
                  </a:cubicBezTo>
                  <a:lnTo>
                    <a:pt x="1787742" y="138472"/>
                  </a:lnTo>
                  <a:cubicBezTo>
                    <a:pt x="1787742" y="170598"/>
                    <a:pt x="1761699" y="196641"/>
                    <a:pt x="1729574" y="196641"/>
                  </a:cubicBezTo>
                  <a:lnTo>
                    <a:pt x="58168" y="196641"/>
                  </a:lnTo>
                  <a:cubicBezTo>
                    <a:pt x="26043" y="196641"/>
                    <a:pt x="0" y="170598"/>
                    <a:pt x="0" y="138472"/>
                  </a:cubicBezTo>
                  <a:lnTo>
                    <a:pt x="0" y="58168"/>
                  </a:lnTo>
                  <a:cubicBezTo>
                    <a:pt x="0" y="26043"/>
                    <a:pt x="26043" y="0"/>
                    <a:pt x="58168" y="0"/>
                  </a:cubicBezTo>
                  <a:close/>
                </a:path>
              </a:pathLst>
            </a:custGeom>
            <a:solidFill>
              <a:srgbClr val="454545">
                <a:alpha val="49804"/>
              </a:srgbClr>
            </a:solidFill>
          </p:spPr>
        </p:sp>
        <p:sp>
          <p:nvSpPr>
            <p:cNvPr id="15" name="TextBox 15"/>
            <p:cNvSpPr txBox="1"/>
            <p:nvPr/>
          </p:nvSpPr>
          <p:spPr>
            <a:xfrm>
              <a:off x="0" y="-95250"/>
              <a:ext cx="1787742" cy="291891"/>
            </a:xfrm>
            <a:prstGeom prst="rect">
              <a:avLst/>
            </a:prstGeom>
          </p:spPr>
          <p:txBody>
            <a:bodyPr lIns="50800" tIns="50800" rIns="50800" bIns="50800" rtlCol="0" anchor="ctr"/>
            <a:lstStyle/>
            <a:p>
              <a:pPr algn="ctr">
                <a:lnSpc>
                  <a:spcPts val="3499"/>
                </a:lnSpc>
              </a:pPr>
              <a:endParaRPr/>
            </a:p>
          </p:txBody>
        </p:sp>
      </p:grpSp>
      <p:sp>
        <p:nvSpPr>
          <p:cNvPr id="16" name="TextBox 16"/>
          <p:cNvSpPr txBox="1"/>
          <p:nvPr/>
        </p:nvSpPr>
        <p:spPr>
          <a:xfrm>
            <a:off x="3419921" y="8576253"/>
            <a:ext cx="3538024" cy="512699"/>
          </a:xfrm>
          <a:prstGeom prst="rect">
            <a:avLst/>
          </a:prstGeom>
        </p:spPr>
        <p:txBody>
          <a:bodyPr lIns="0" tIns="0" rIns="0" bIns="0" rtlCol="0" anchor="t">
            <a:spAutoFit/>
          </a:bodyPr>
          <a:lstStyle/>
          <a:p>
            <a:pPr marL="580772" lvl="1" indent="-290386" algn="just">
              <a:lnSpc>
                <a:spcPts val="3766"/>
              </a:lnSpc>
              <a:buFont typeface="Arial"/>
              <a:buChar char="•"/>
            </a:pPr>
            <a:r>
              <a:rPr lang="en-US" sz="2690">
                <a:solidFill>
                  <a:srgbClr val="000000"/>
                </a:solidFill>
                <a:latin typeface="Arial MT Pro"/>
                <a:ea typeface="Arial MT Pro"/>
                <a:cs typeface="Arial MT Pro"/>
                <a:sym typeface="Arial MT Pro"/>
              </a:rPr>
              <a:t>Estrutura acústica.</a:t>
            </a:r>
          </a:p>
        </p:txBody>
      </p:sp>
      <p:sp>
        <p:nvSpPr>
          <p:cNvPr id="17" name="TextBox 17"/>
          <p:cNvSpPr txBox="1"/>
          <p:nvPr/>
        </p:nvSpPr>
        <p:spPr>
          <a:xfrm>
            <a:off x="1662582" y="1792177"/>
            <a:ext cx="6866894"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Variação na frequência das vocalizações</a:t>
            </a:r>
          </a:p>
        </p:txBody>
      </p:sp>
      <p:sp>
        <p:nvSpPr>
          <p:cNvPr id="18" name="Freeform 18"/>
          <p:cNvSpPr/>
          <p:nvPr/>
        </p:nvSpPr>
        <p:spPr>
          <a:xfrm>
            <a:off x="10001228" y="1294101"/>
            <a:ext cx="5138499" cy="3277282"/>
          </a:xfrm>
          <a:custGeom>
            <a:avLst/>
            <a:gdLst/>
            <a:ahLst/>
            <a:cxnLst/>
            <a:rect l="l" t="t" r="r" b="b"/>
            <a:pathLst>
              <a:path w="5138499" h="3277282">
                <a:moveTo>
                  <a:pt x="0" y="0"/>
                </a:moveTo>
                <a:lnTo>
                  <a:pt x="5138499" y="0"/>
                </a:lnTo>
                <a:lnTo>
                  <a:pt x="5138499" y="3277281"/>
                </a:lnTo>
                <a:lnTo>
                  <a:pt x="0" y="3277281"/>
                </a:lnTo>
                <a:lnTo>
                  <a:pt x="0" y="0"/>
                </a:lnTo>
                <a:close/>
              </a:path>
            </a:pathLst>
          </a:custGeom>
          <a:blipFill>
            <a:blip r:embed="rId3"/>
            <a:stretch>
              <a:fillRect t="-10160" r="-370"/>
            </a:stretch>
          </a:blipFill>
          <a:ln w="47625" cap="sq">
            <a:solidFill>
              <a:srgbClr val="000000"/>
            </a:solidFill>
            <a:prstDash val="solid"/>
            <a:miter/>
          </a:ln>
        </p:spPr>
      </p:sp>
      <p:sp>
        <p:nvSpPr>
          <p:cNvPr id="19" name="Freeform 19"/>
          <p:cNvSpPr/>
          <p:nvPr/>
        </p:nvSpPr>
        <p:spPr>
          <a:xfrm>
            <a:off x="9144000" y="5516810"/>
            <a:ext cx="6852956" cy="3149218"/>
          </a:xfrm>
          <a:custGeom>
            <a:avLst/>
            <a:gdLst/>
            <a:ahLst/>
            <a:cxnLst/>
            <a:rect l="l" t="t" r="r" b="b"/>
            <a:pathLst>
              <a:path w="6852956" h="3149218">
                <a:moveTo>
                  <a:pt x="0" y="0"/>
                </a:moveTo>
                <a:lnTo>
                  <a:pt x="6852956" y="0"/>
                </a:lnTo>
                <a:lnTo>
                  <a:pt x="6852956" y="3149218"/>
                </a:lnTo>
                <a:lnTo>
                  <a:pt x="0" y="3149218"/>
                </a:lnTo>
                <a:lnTo>
                  <a:pt x="0" y="0"/>
                </a:lnTo>
                <a:close/>
              </a:path>
            </a:pathLst>
          </a:custGeom>
          <a:blipFill>
            <a:blip r:embed="rId4"/>
            <a:stretch>
              <a:fillRect t="-8804"/>
            </a:stretch>
          </a:blipFill>
          <a:ln w="47625" cap="sq">
            <a:solidFill>
              <a:srgbClr val="000000"/>
            </a:solidFill>
            <a:prstDash val="solid"/>
            <a:miter/>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TextBox 4"/>
          <p:cNvSpPr txBox="1"/>
          <p:nvPr/>
        </p:nvSpPr>
        <p:spPr>
          <a:xfrm>
            <a:off x="1037610" y="141576"/>
            <a:ext cx="4031885"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Discussão</a:t>
            </a:r>
          </a:p>
        </p:txBody>
      </p:sp>
      <p:grpSp>
        <p:nvGrpSpPr>
          <p:cNvPr id="5" name="Group 5"/>
          <p:cNvGrpSpPr/>
          <p:nvPr/>
        </p:nvGrpSpPr>
        <p:grpSpPr>
          <a:xfrm>
            <a:off x="1028700" y="4213351"/>
            <a:ext cx="16230600" cy="2268221"/>
            <a:chOff x="0" y="0"/>
            <a:chExt cx="4274726" cy="597392"/>
          </a:xfrm>
        </p:grpSpPr>
        <p:sp>
          <p:nvSpPr>
            <p:cNvPr id="6" name="Freeform 6"/>
            <p:cNvSpPr/>
            <p:nvPr/>
          </p:nvSpPr>
          <p:spPr>
            <a:xfrm>
              <a:off x="0" y="0"/>
              <a:ext cx="4274726" cy="597392"/>
            </a:xfrm>
            <a:custGeom>
              <a:avLst/>
              <a:gdLst/>
              <a:ahLst/>
              <a:cxnLst/>
              <a:rect l="l" t="t" r="r" b="b"/>
              <a:pathLst>
                <a:path w="4274726" h="597392">
                  <a:moveTo>
                    <a:pt x="24327" y="0"/>
                  </a:moveTo>
                  <a:lnTo>
                    <a:pt x="4250399" y="0"/>
                  </a:lnTo>
                  <a:cubicBezTo>
                    <a:pt x="4263834" y="0"/>
                    <a:pt x="4274726" y="10891"/>
                    <a:pt x="4274726" y="24327"/>
                  </a:cubicBezTo>
                  <a:lnTo>
                    <a:pt x="4274726" y="573065"/>
                  </a:lnTo>
                  <a:cubicBezTo>
                    <a:pt x="4274726" y="579517"/>
                    <a:pt x="4272163" y="585704"/>
                    <a:pt x="4267601" y="590266"/>
                  </a:cubicBezTo>
                  <a:cubicBezTo>
                    <a:pt x="4263039" y="594829"/>
                    <a:pt x="4256851" y="597392"/>
                    <a:pt x="4250399" y="597392"/>
                  </a:cubicBezTo>
                  <a:lnTo>
                    <a:pt x="24327" y="597392"/>
                  </a:lnTo>
                  <a:cubicBezTo>
                    <a:pt x="10891" y="597392"/>
                    <a:pt x="0" y="586500"/>
                    <a:pt x="0" y="573065"/>
                  </a:cubicBezTo>
                  <a:lnTo>
                    <a:pt x="0" y="24327"/>
                  </a:lnTo>
                  <a:cubicBezTo>
                    <a:pt x="0" y="10891"/>
                    <a:pt x="10891" y="0"/>
                    <a:pt x="24327" y="0"/>
                  </a:cubicBezTo>
                  <a:close/>
                </a:path>
              </a:pathLst>
            </a:custGeom>
            <a:solidFill>
              <a:srgbClr val="454545">
                <a:alpha val="49804"/>
              </a:srgbClr>
            </a:solidFill>
          </p:spPr>
        </p:sp>
        <p:sp>
          <p:nvSpPr>
            <p:cNvPr id="7" name="TextBox 7"/>
            <p:cNvSpPr txBox="1"/>
            <p:nvPr/>
          </p:nvSpPr>
          <p:spPr>
            <a:xfrm>
              <a:off x="0" y="-95250"/>
              <a:ext cx="4274726" cy="692642"/>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5562334" y="5038725"/>
            <a:ext cx="6657122" cy="512699"/>
          </a:xfrm>
          <a:prstGeom prst="rect">
            <a:avLst/>
          </a:prstGeom>
        </p:spPr>
        <p:txBody>
          <a:bodyPr lIns="0" tIns="0" rIns="0" bIns="0" rtlCol="0" anchor="t">
            <a:spAutoFit/>
          </a:bodyPr>
          <a:lstStyle/>
          <a:p>
            <a:pPr marL="580772" lvl="1" indent="-290386" algn="l">
              <a:lnSpc>
                <a:spcPts val="3766"/>
              </a:lnSpc>
              <a:buFont typeface="Arial"/>
              <a:buChar char="•"/>
            </a:pPr>
            <a:r>
              <a:rPr lang="en-US" sz="2690">
                <a:solidFill>
                  <a:srgbClr val="000000"/>
                </a:solidFill>
                <a:latin typeface="Arial MT Pro"/>
                <a:ea typeface="Arial MT Pro"/>
                <a:cs typeface="Arial MT Pro"/>
                <a:sym typeface="Arial MT Pro"/>
              </a:rPr>
              <a:t>Oportunidade experimental e limitações</a:t>
            </a:r>
          </a:p>
        </p:txBody>
      </p:sp>
      <p:sp>
        <p:nvSpPr>
          <p:cNvPr id="9" name="Freeform 9"/>
          <p:cNvSpPr/>
          <p:nvPr/>
        </p:nvSpPr>
        <p:spPr>
          <a:xfrm>
            <a:off x="16050120" y="3588370"/>
            <a:ext cx="2418361" cy="1249964"/>
          </a:xfrm>
          <a:custGeom>
            <a:avLst/>
            <a:gdLst/>
            <a:ahLst/>
            <a:cxnLst/>
            <a:rect l="l" t="t" r="r" b="b"/>
            <a:pathLst>
              <a:path w="2418361" h="1249964">
                <a:moveTo>
                  <a:pt x="0" y="0"/>
                </a:moveTo>
                <a:lnTo>
                  <a:pt x="2418360" y="0"/>
                </a:lnTo>
                <a:lnTo>
                  <a:pt x="2418360" y="1249963"/>
                </a:lnTo>
                <a:lnTo>
                  <a:pt x="0" y="1249963"/>
                </a:lnTo>
                <a:lnTo>
                  <a:pt x="0" y="0"/>
                </a:lnTo>
                <a:close/>
              </a:path>
            </a:pathLst>
          </a:custGeom>
          <a:blipFill>
            <a:blip r:embed="rId3"/>
            <a:stretch>
              <a:fillRect l="-11029" t="-147413" b="-134477"/>
            </a:stretch>
          </a:blipFill>
        </p:spPr>
      </p:sp>
      <p:sp>
        <p:nvSpPr>
          <p:cNvPr id="10" name="Freeform 10"/>
          <p:cNvSpPr/>
          <p:nvPr/>
        </p:nvSpPr>
        <p:spPr>
          <a:xfrm flipH="1">
            <a:off x="-180480" y="5652629"/>
            <a:ext cx="2418361" cy="1249964"/>
          </a:xfrm>
          <a:custGeom>
            <a:avLst/>
            <a:gdLst/>
            <a:ahLst/>
            <a:cxnLst/>
            <a:rect l="l" t="t" r="r" b="b"/>
            <a:pathLst>
              <a:path w="2418361" h="1249964">
                <a:moveTo>
                  <a:pt x="2418360" y="0"/>
                </a:moveTo>
                <a:lnTo>
                  <a:pt x="0" y="0"/>
                </a:lnTo>
                <a:lnTo>
                  <a:pt x="0" y="1249963"/>
                </a:lnTo>
                <a:lnTo>
                  <a:pt x="2418360" y="1249963"/>
                </a:lnTo>
                <a:lnTo>
                  <a:pt x="2418360" y="0"/>
                </a:lnTo>
                <a:close/>
              </a:path>
            </a:pathLst>
          </a:custGeom>
          <a:blipFill>
            <a:blip r:embed="rId3"/>
            <a:stretch>
              <a:fillRect l="-11029" t="-147413" b="-134477"/>
            </a:stretch>
          </a:blipFill>
        </p:spPr>
      </p:sp>
      <p:sp>
        <p:nvSpPr>
          <p:cNvPr id="11" name="TextBox 11"/>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3" name="Freeform 3"/>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4" name="TextBox 4"/>
          <p:cNvSpPr txBox="1"/>
          <p:nvPr/>
        </p:nvSpPr>
        <p:spPr>
          <a:xfrm>
            <a:off x="918470" y="141576"/>
            <a:ext cx="6602686"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Proximos passos</a:t>
            </a:r>
          </a:p>
        </p:txBody>
      </p:sp>
      <p:grpSp>
        <p:nvGrpSpPr>
          <p:cNvPr id="5" name="Group 5"/>
          <p:cNvGrpSpPr/>
          <p:nvPr/>
        </p:nvGrpSpPr>
        <p:grpSpPr>
          <a:xfrm>
            <a:off x="775595" y="4096022"/>
            <a:ext cx="16230600" cy="2268221"/>
            <a:chOff x="0" y="0"/>
            <a:chExt cx="4274726" cy="597392"/>
          </a:xfrm>
        </p:grpSpPr>
        <p:sp>
          <p:nvSpPr>
            <p:cNvPr id="6" name="Freeform 6"/>
            <p:cNvSpPr/>
            <p:nvPr/>
          </p:nvSpPr>
          <p:spPr>
            <a:xfrm>
              <a:off x="0" y="0"/>
              <a:ext cx="4274726" cy="597392"/>
            </a:xfrm>
            <a:custGeom>
              <a:avLst/>
              <a:gdLst/>
              <a:ahLst/>
              <a:cxnLst/>
              <a:rect l="l" t="t" r="r" b="b"/>
              <a:pathLst>
                <a:path w="4274726" h="597392">
                  <a:moveTo>
                    <a:pt x="24327" y="0"/>
                  </a:moveTo>
                  <a:lnTo>
                    <a:pt x="4250399" y="0"/>
                  </a:lnTo>
                  <a:cubicBezTo>
                    <a:pt x="4263834" y="0"/>
                    <a:pt x="4274726" y="10891"/>
                    <a:pt x="4274726" y="24327"/>
                  </a:cubicBezTo>
                  <a:lnTo>
                    <a:pt x="4274726" y="573065"/>
                  </a:lnTo>
                  <a:cubicBezTo>
                    <a:pt x="4274726" y="579517"/>
                    <a:pt x="4272163" y="585704"/>
                    <a:pt x="4267601" y="590266"/>
                  </a:cubicBezTo>
                  <a:cubicBezTo>
                    <a:pt x="4263039" y="594829"/>
                    <a:pt x="4256851" y="597392"/>
                    <a:pt x="4250399" y="597392"/>
                  </a:cubicBezTo>
                  <a:lnTo>
                    <a:pt x="24327" y="597392"/>
                  </a:lnTo>
                  <a:cubicBezTo>
                    <a:pt x="10891" y="597392"/>
                    <a:pt x="0" y="586500"/>
                    <a:pt x="0" y="573065"/>
                  </a:cubicBezTo>
                  <a:lnTo>
                    <a:pt x="0" y="24327"/>
                  </a:lnTo>
                  <a:cubicBezTo>
                    <a:pt x="0" y="10891"/>
                    <a:pt x="10891" y="0"/>
                    <a:pt x="24327" y="0"/>
                  </a:cubicBezTo>
                  <a:close/>
                </a:path>
              </a:pathLst>
            </a:custGeom>
            <a:solidFill>
              <a:srgbClr val="454545">
                <a:alpha val="49804"/>
              </a:srgbClr>
            </a:solidFill>
          </p:spPr>
        </p:sp>
        <p:sp>
          <p:nvSpPr>
            <p:cNvPr id="7" name="TextBox 7"/>
            <p:cNvSpPr txBox="1"/>
            <p:nvPr/>
          </p:nvSpPr>
          <p:spPr>
            <a:xfrm>
              <a:off x="0" y="-95250"/>
              <a:ext cx="4274726" cy="692642"/>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5295141" y="4431859"/>
            <a:ext cx="8013546" cy="459998"/>
          </a:xfrm>
          <a:prstGeom prst="rect">
            <a:avLst/>
          </a:prstGeom>
        </p:spPr>
        <p:txBody>
          <a:bodyPr wrap="square" lIns="0" tIns="0" rIns="0" bIns="0" rtlCol="0" anchor="t">
            <a:spAutoFit/>
          </a:bodyPr>
          <a:lstStyle/>
          <a:p>
            <a:pPr marL="580772" lvl="1" indent="-290386" algn="ctr">
              <a:lnSpc>
                <a:spcPts val="3766"/>
              </a:lnSpc>
              <a:buFont typeface="Arial"/>
              <a:buChar char="•"/>
            </a:pPr>
            <a:r>
              <a:rPr lang="en-US" sz="2690">
                <a:solidFill>
                  <a:srgbClr val="000000"/>
                </a:solidFill>
                <a:latin typeface="Arial MT Pro"/>
                <a:ea typeface="Arial MT Pro"/>
                <a:cs typeface="Arial MT Pro"/>
                <a:sym typeface="Arial MT Pro"/>
              </a:rPr>
              <a:t>Realização de um novo experimento planejado</a:t>
            </a:r>
          </a:p>
        </p:txBody>
      </p:sp>
      <p:sp>
        <p:nvSpPr>
          <p:cNvPr id="9" name="Freeform 9"/>
          <p:cNvSpPr/>
          <p:nvPr/>
        </p:nvSpPr>
        <p:spPr>
          <a:xfrm>
            <a:off x="16050120" y="3423590"/>
            <a:ext cx="2418361" cy="1249964"/>
          </a:xfrm>
          <a:custGeom>
            <a:avLst/>
            <a:gdLst/>
            <a:ahLst/>
            <a:cxnLst/>
            <a:rect l="l" t="t" r="r" b="b"/>
            <a:pathLst>
              <a:path w="2418361" h="1249964">
                <a:moveTo>
                  <a:pt x="0" y="0"/>
                </a:moveTo>
                <a:lnTo>
                  <a:pt x="2418360" y="0"/>
                </a:lnTo>
                <a:lnTo>
                  <a:pt x="2418360" y="1249964"/>
                </a:lnTo>
                <a:lnTo>
                  <a:pt x="0" y="1249964"/>
                </a:lnTo>
                <a:lnTo>
                  <a:pt x="0" y="0"/>
                </a:lnTo>
                <a:close/>
              </a:path>
            </a:pathLst>
          </a:custGeom>
          <a:blipFill>
            <a:blip r:embed="rId3"/>
            <a:stretch>
              <a:fillRect l="-11029" t="-147413" b="-134477"/>
            </a:stretch>
          </a:blipFill>
        </p:spPr>
      </p:sp>
      <p:sp>
        <p:nvSpPr>
          <p:cNvPr id="10" name="Freeform 10"/>
          <p:cNvSpPr/>
          <p:nvPr/>
        </p:nvSpPr>
        <p:spPr>
          <a:xfrm flipH="1">
            <a:off x="-180480" y="5652629"/>
            <a:ext cx="2418361" cy="1249964"/>
          </a:xfrm>
          <a:custGeom>
            <a:avLst/>
            <a:gdLst/>
            <a:ahLst/>
            <a:cxnLst/>
            <a:rect l="l" t="t" r="r" b="b"/>
            <a:pathLst>
              <a:path w="2418361" h="1249964">
                <a:moveTo>
                  <a:pt x="2418360" y="0"/>
                </a:moveTo>
                <a:lnTo>
                  <a:pt x="0" y="0"/>
                </a:lnTo>
                <a:lnTo>
                  <a:pt x="0" y="1249963"/>
                </a:lnTo>
                <a:lnTo>
                  <a:pt x="2418360" y="1249963"/>
                </a:lnTo>
                <a:lnTo>
                  <a:pt x="2418360" y="0"/>
                </a:lnTo>
                <a:close/>
              </a:path>
            </a:pathLst>
          </a:custGeom>
          <a:blipFill>
            <a:blip r:embed="rId3"/>
            <a:stretch>
              <a:fillRect l="-11029" t="-147413" b="-134477"/>
            </a:stretch>
          </a:blipFill>
        </p:spPr>
      </p:sp>
      <p:sp>
        <p:nvSpPr>
          <p:cNvPr id="11" name="TextBox 11"/>
          <p:cNvSpPr txBox="1"/>
          <p:nvPr/>
        </p:nvSpPr>
        <p:spPr>
          <a:xfrm>
            <a:off x="17259300" y="9115425"/>
            <a:ext cx="933112"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19.</a:t>
            </a:r>
          </a:p>
        </p:txBody>
      </p:sp>
      <p:sp>
        <p:nvSpPr>
          <p:cNvPr id="12" name="TextBox 12"/>
          <p:cNvSpPr txBox="1"/>
          <p:nvPr/>
        </p:nvSpPr>
        <p:spPr>
          <a:xfrm>
            <a:off x="5607320" y="5410933"/>
            <a:ext cx="7073360" cy="512699"/>
          </a:xfrm>
          <a:prstGeom prst="rect">
            <a:avLst/>
          </a:prstGeom>
        </p:spPr>
        <p:txBody>
          <a:bodyPr lIns="0" tIns="0" rIns="0" bIns="0" rtlCol="0" anchor="t">
            <a:spAutoFit/>
          </a:bodyPr>
          <a:lstStyle/>
          <a:p>
            <a:pPr marL="580772" lvl="1" indent="-290386" algn="ctr">
              <a:lnSpc>
                <a:spcPts val="3766"/>
              </a:lnSpc>
              <a:buFont typeface="Arial"/>
              <a:buChar char="•"/>
            </a:pPr>
            <a:r>
              <a:rPr lang="en-US" sz="2690">
                <a:solidFill>
                  <a:srgbClr val="000000"/>
                </a:solidFill>
                <a:latin typeface="Arial MT Pro"/>
                <a:ea typeface="Arial MT Pro"/>
                <a:cs typeface="Arial MT Pro"/>
                <a:sym typeface="Arial MT Pro"/>
              </a:rPr>
              <a:t>Estudos com outras espécies amazônicas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Freeform 2"/>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sp>
        <p:nvSpPr>
          <p:cNvPr id="3" name="Freeform 3"/>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graphicFrame>
        <p:nvGraphicFramePr>
          <p:cNvPr id="4" name="Object 4"/>
          <p:cNvGraphicFramePr/>
          <p:nvPr/>
        </p:nvGraphicFramePr>
        <p:xfrm>
          <a:off x="1790572" y="2400205"/>
          <a:ext cx="16633415" cy="6031843"/>
        </p:xfrm>
        <a:graphic>
          <a:graphicData uri="http://schemas.openxmlformats.org/presentationml/2006/ole">
            <mc:AlternateContent xmlns:mc="http://schemas.openxmlformats.org/markup-compatibility/2006">
              <mc:Choice xmlns:v="urn:schemas-microsoft-com:vml" Requires="v">
                <p:oleObj name="Worksheet" r:id="rId3" imgW="19964400" imgH="9359900" progId="Excel.Sheet.12">
                  <p:embed/>
                </p:oleObj>
              </mc:Choice>
              <mc:Fallback>
                <p:oleObj name="Worksheet" r:id="rId3" imgW="19964400" imgH="9359900" progId="Excel.Sheet.12">
                  <p:embed/>
                  <p:pic>
                    <p:nvPicPr>
                      <p:cNvPr id="4" name="Object 4"/>
                      <p:cNvPicPr/>
                      <p:nvPr/>
                    </p:nvPicPr>
                    <p:blipFill>
                      <a:blip r:embed="rId4"/>
                      <a:stretch>
                        <a:fillRect/>
                      </a:stretch>
                    </p:blipFill>
                    <p:spPr>
                      <a:xfrm>
                        <a:off x="1790572" y="2400205"/>
                        <a:ext cx="16633415" cy="6031843"/>
                      </a:xfrm>
                      <a:prstGeom prst="rect">
                        <a:avLst/>
                      </a:prstGeom>
                    </p:spPr>
                  </p:pic>
                </p:oleObj>
              </mc:Fallback>
            </mc:AlternateContent>
          </a:graphicData>
        </a:graphic>
      </p:graphicFrame>
      <p:sp>
        <p:nvSpPr>
          <p:cNvPr id="5" name="TextBox 5"/>
          <p:cNvSpPr txBox="1"/>
          <p:nvPr/>
        </p:nvSpPr>
        <p:spPr>
          <a:xfrm>
            <a:off x="698428" y="141576"/>
            <a:ext cx="4556163" cy="1018740"/>
          </a:xfrm>
          <a:prstGeom prst="rect">
            <a:avLst/>
          </a:prstGeom>
        </p:spPr>
        <p:txBody>
          <a:bodyPr wrap="square"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Cronograma</a:t>
            </a:r>
          </a:p>
        </p:txBody>
      </p:sp>
      <p:sp>
        <p:nvSpPr>
          <p:cNvPr id="6" name="TextBox 6"/>
          <p:cNvSpPr txBox="1"/>
          <p:nvPr/>
        </p:nvSpPr>
        <p:spPr>
          <a:xfrm>
            <a:off x="17259300" y="9115425"/>
            <a:ext cx="896761"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TextBox 2"/>
          <p:cNvSpPr txBox="1"/>
          <p:nvPr/>
        </p:nvSpPr>
        <p:spPr>
          <a:xfrm>
            <a:off x="660328" y="147403"/>
            <a:ext cx="9575332" cy="1152525"/>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Referências Bibliográficas</a:t>
            </a:r>
          </a:p>
        </p:txBody>
      </p:sp>
      <p:sp>
        <p:nvSpPr>
          <p:cNvPr id="3" name="TextBox 3"/>
          <p:cNvSpPr txBox="1"/>
          <p:nvPr/>
        </p:nvSpPr>
        <p:spPr>
          <a:xfrm>
            <a:off x="17259300" y="9115425"/>
            <a:ext cx="896761"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21.</a:t>
            </a:r>
          </a:p>
        </p:txBody>
      </p:sp>
      <p:sp>
        <p:nvSpPr>
          <p:cNvPr id="4" name="Freeform 4"/>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5" name="Freeform 5"/>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grpSp>
        <p:nvGrpSpPr>
          <p:cNvPr id="6" name="Group 6"/>
          <p:cNvGrpSpPr/>
          <p:nvPr/>
        </p:nvGrpSpPr>
        <p:grpSpPr>
          <a:xfrm>
            <a:off x="1028700" y="1263610"/>
            <a:ext cx="16230600" cy="7759781"/>
            <a:chOff x="0" y="0"/>
            <a:chExt cx="4274726" cy="2043728"/>
          </a:xfrm>
        </p:grpSpPr>
        <p:sp>
          <p:nvSpPr>
            <p:cNvPr id="7" name="Freeform 7"/>
            <p:cNvSpPr/>
            <p:nvPr/>
          </p:nvSpPr>
          <p:spPr>
            <a:xfrm>
              <a:off x="0" y="0"/>
              <a:ext cx="4274726" cy="2043728"/>
            </a:xfrm>
            <a:custGeom>
              <a:avLst/>
              <a:gdLst/>
              <a:ahLst/>
              <a:cxnLst/>
              <a:rect l="l" t="t" r="r" b="b"/>
              <a:pathLst>
                <a:path w="4274726" h="2043728">
                  <a:moveTo>
                    <a:pt x="24327" y="0"/>
                  </a:moveTo>
                  <a:lnTo>
                    <a:pt x="4250399" y="0"/>
                  </a:lnTo>
                  <a:cubicBezTo>
                    <a:pt x="4263834" y="0"/>
                    <a:pt x="4274726" y="10891"/>
                    <a:pt x="4274726" y="24327"/>
                  </a:cubicBezTo>
                  <a:lnTo>
                    <a:pt x="4274726" y="2019402"/>
                  </a:lnTo>
                  <a:cubicBezTo>
                    <a:pt x="4274726" y="2032837"/>
                    <a:pt x="4263834" y="2043728"/>
                    <a:pt x="4250399" y="2043728"/>
                  </a:cubicBezTo>
                  <a:lnTo>
                    <a:pt x="24327" y="2043728"/>
                  </a:lnTo>
                  <a:cubicBezTo>
                    <a:pt x="10891" y="2043728"/>
                    <a:pt x="0" y="2032837"/>
                    <a:pt x="0" y="2019402"/>
                  </a:cubicBezTo>
                  <a:lnTo>
                    <a:pt x="0" y="24327"/>
                  </a:lnTo>
                  <a:cubicBezTo>
                    <a:pt x="0" y="10891"/>
                    <a:pt x="10891" y="0"/>
                    <a:pt x="24327" y="0"/>
                  </a:cubicBezTo>
                  <a:close/>
                </a:path>
              </a:pathLst>
            </a:custGeom>
            <a:solidFill>
              <a:srgbClr val="454545">
                <a:alpha val="49804"/>
              </a:srgbClr>
            </a:solidFill>
          </p:spPr>
        </p:sp>
        <p:sp>
          <p:nvSpPr>
            <p:cNvPr id="8" name="TextBox 8"/>
            <p:cNvSpPr txBox="1"/>
            <p:nvPr/>
          </p:nvSpPr>
          <p:spPr>
            <a:xfrm>
              <a:off x="0" y="-95250"/>
              <a:ext cx="4274726" cy="2138978"/>
            </a:xfrm>
            <a:prstGeom prst="rect">
              <a:avLst/>
            </a:prstGeom>
          </p:spPr>
          <p:txBody>
            <a:bodyPr lIns="50800" tIns="50800" rIns="50800" bIns="50800" rtlCol="0" anchor="ctr"/>
            <a:lstStyle/>
            <a:p>
              <a:pPr algn="ctr">
                <a:lnSpc>
                  <a:spcPts val="3499"/>
                </a:lnSpc>
              </a:pPr>
              <a:endParaRPr/>
            </a:p>
          </p:txBody>
        </p:sp>
      </p:grpSp>
      <p:sp>
        <p:nvSpPr>
          <p:cNvPr id="9" name="TextBox 9"/>
          <p:cNvSpPr txBox="1"/>
          <p:nvPr/>
        </p:nvSpPr>
        <p:spPr>
          <a:xfrm>
            <a:off x="2698386" y="1619265"/>
            <a:ext cx="12891228" cy="6896676"/>
          </a:xfrm>
          <a:prstGeom prst="rect">
            <a:avLst/>
          </a:prstGeom>
        </p:spPr>
        <p:txBody>
          <a:bodyPr lIns="0" tIns="0" rIns="0" bIns="0" rtlCol="0" anchor="t">
            <a:spAutoFit/>
          </a:bodyPr>
          <a:lstStyle/>
          <a:p>
            <a:pPr marL="0" lvl="0" indent="0" algn="l">
              <a:lnSpc>
                <a:spcPts val="3643"/>
              </a:lnSpc>
              <a:spcBef>
                <a:spcPct val="0"/>
              </a:spcBef>
            </a:pPr>
            <a:r>
              <a:rPr lang="en-US" sz="2602">
                <a:solidFill>
                  <a:srgbClr val="000000"/>
                </a:solidFill>
                <a:latin typeface="Arial MT Pro"/>
                <a:ea typeface="Arial MT Pro"/>
                <a:cs typeface="Arial MT Pro"/>
                <a:sym typeface="Arial MT Pro"/>
              </a:rPr>
              <a:t>Bottino, M.J., Nobre, P., Giarolla, E., da Silva Junior, M.B., Capistrano, V.B., Malagutti, M., Tamaoki, J.N., De Oliveira, B.F.A. and Nobre, C.A., 2024. Amazon savannization and climate change are projected to increase dry season length and temperature extremes over Brazil. Scientific Reports, 14(1), p.5131.</a:t>
            </a:r>
          </a:p>
          <a:p>
            <a:pPr marL="0" lvl="0" indent="0" algn="l">
              <a:lnSpc>
                <a:spcPts val="3643"/>
              </a:lnSpc>
              <a:spcBef>
                <a:spcPct val="0"/>
              </a:spcBef>
            </a:pPr>
            <a:r>
              <a:rPr lang="en-US" sz="2602">
                <a:solidFill>
                  <a:srgbClr val="000000"/>
                </a:solidFill>
                <a:latin typeface="Arial MT Pro"/>
                <a:ea typeface="Arial MT Pro"/>
                <a:cs typeface="Arial MT Pro"/>
                <a:sym typeface="Arial MT Pro"/>
              </a:rPr>
              <a:t>Lawlor, J.A., Comte, L., Grenouillet, G., Lenoir, J., Baecher, J.A., Bandara, R.M.W.J., Bertrand, R., Chen, I.C., Diamond, S.E., Lancaster, L.T. and Moore, N., 2024. Mechanisms, detection and impacts of species redistributions under climate change. Nature Reviews Earth &amp; Environment, 5(5), pp.351-368.</a:t>
            </a:r>
          </a:p>
          <a:p>
            <a:pPr marL="0" lvl="0" indent="0" algn="l">
              <a:lnSpc>
                <a:spcPts val="3643"/>
              </a:lnSpc>
              <a:spcBef>
                <a:spcPct val="0"/>
              </a:spcBef>
            </a:pPr>
            <a:r>
              <a:rPr lang="en-US" sz="2602">
                <a:solidFill>
                  <a:srgbClr val="000000"/>
                </a:solidFill>
                <a:latin typeface="Arial MT Pro"/>
                <a:ea typeface="Arial MT Pro"/>
                <a:cs typeface="Arial MT Pro"/>
                <a:sym typeface="Arial MT Pro"/>
              </a:rPr>
              <a:t>Oestreich, W.K., Oliver, R.Y., Chapman, M.S., Go, M.C. and McKenna, M.F., 2024. Listening to animal behavior to understand changing ecosystems. Trends in Ecology &amp; Evolution, 39(10), pp.961-973.</a:t>
            </a:r>
          </a:p>
          <a:p>
            <a:pPr algn="l">
              <a:lnSpc>
                <a:spcPts val="3643"/>
              </a:lnSpc>
              <a:spcBef>
                <a:spcPct val="0"/>
              </a:spcBef>
            </a:pPr>
            <a:r>
              <a:rPr lang="en-US" sz="2602">
                <a:solidFill>
                  <a:srgbClr val="000000"/>
                </a:solidFill>
                <a:latin typeface="Arial MT Pro"/>
                <a:ea typeface="Arial MT Pro"/>
                <a:cs typeface="Arial MT Pro"/>
                <a:sym typeface="Arial MT Pro"/>
              </a:rPr>
              <a:t>Rodrigues‐Filho, C.A., Costa, F.R., Schietti, J., Nogueira, A., Leitão, R.P., Menger, J., Borba, G., Gerolamo, C.S., Avilla, S.S., Emilio, T. and de Castilho, C.V., 2024. Multi‐Taxa Responses to Climate Change in the Amazon Forest. Global Change Biology, 30(11), p.e17598.</a:t>
            </a:r>
          </a:p>
        </p:txBody>
      </p:sp>
      <p:sp>
        <p:nvSpPr>
          <p:cNvPr id="10" name="Freeform 10"/>
          <p:cNvSpPr/>
          <p:nvPr/>
        </p:nvSpPr>
        <p:spPr>
          <a:xfrm>
            <a:off x="15589614" y="842728"/>
            <a:ext cx="2418361" cy="1249964"/>
          </a:xfrm>
          <a:custGeom>
            <a:avLst/>
            <a:gdLst/>
            <a:ahLst/>
            <a:cxnLst/>
            <a:rect l="l" t="t" r="r" b="b"/>
            <a:pathLst>
              <a:path w="2418361" h="1249964">
                <a:moveTo>
                  <a:pt x="0" y="0"/>
                </a:moveTo>
                <a:lnTo>
                  <a:pt x="2418360" y="0"/>
                </a:lnTo>
                <a:lnTo>
                  <a:pt x="2418360" y="1249964"/>
                </a:lnTo>
                <a:lnTo>
                  <a:pt x="0" y="1249964"/>
                </a:lnTo>
                <a:lnTo>
                  <a:pt x="0" y="0"/>
                </a:lnTo>
                <a:close/>
              </a:path>
            </a:pathLst>
          </a:custGeom>
          <a:blipFill>
            <a:blip r:embed="rId3"/>
            <a:stretch>
              <a:fillRect l="-11029" t="-147413" b="-134477"/>
            </a:stretch>
          </a:blipFill>
        </p:spPr>
      </p:sp>
      <p:sp>
        <p:nvSpPr>
          <p:cNvPr id="11" name="Freeform 11"/>
          <p:cNvSpPr/>
          <p:nvPr/>
        </p:nvSpPr>
        <p:spPr>
          <a:xfrm flipH="1">
            <a:off x="280026" y="8278211"/>
            <a:ext cx="2418361" cy="1249964"/>
          </a:xfrm>
          <a:custGeom>
            <a:avLst/>
            <a:gdLst/>
            <a:ahLst/>
            <a:cxnLst/>
            <a:rect l="l" t="t" r="r" b="b"/>
            <a:pathLst>
              <a:path w="2418361" h="1249964">
                <a:moveTo>
                  <a:pt x="2418360" y="0"/>
                </a:moveTo>
                <a:lnTo>
                  <a:pt x="0" y="0"/>
                </a:lnTo>
                <a:lnTo>
                  <a:pt x="0" y="1249964"/>
                </a:lnTo>
                <a:lnTo>
                  <a:pt x="2418360" y="1249964"/>
                </a:lnTo>
                <a:lnTo>
                  <a:pt x="2418360" y="0"/>
                </a:lnTo>
                <a:close/>
              </a:path>
            </a:pathLst>
          </a:custGeom>
          <a:blipFill>
            <a:blip r:embed="rId3"/>
            <a:stretch>
              <a:fillRect l="-11029" t="-147413" b="-134477"/>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E9CE"/>
        </a:solidFill>
        <a:effectLst/>
      </p:bgPr>
    </p:bg>
    <p:spTree>
      <p:nvGrpSpPr>
        <p:cNvPr id="1" name=""/>
        <p:cNvGrpSpPr/>
        <p:nvPr/>
      </p:nvGrpSpPr>
      <p:grpSpPr>
        <a:xfrm>
          <a:off x="0" y="0"/>
          <a:ext cx="0" cy="0"/>
          <a:chOff x="0" y="0"/>
          <a:chExt cx="0" cy="0"/>
        </a:xfrm>
      </p:grpSpPr>
      <p:sp>
        <p:nvSpPr>
          <p:cNvPr id="2" name="TextBox 2"/>
          <p:cNvSpPr txBox="1"/>
          <p:nvPr/>
        </p:nvSpPr>
        <p:spPr>
          <a:xfrm>
            <a:off x="707953" y="111085"/>
            <a:ext cx="6023791" cy="1152525"/>
          </a:xfrm>
          <a:prstGeom prst="rect">
            <a:avLst/>
          </a:prstGeom>
        </p:spPr>
        <p:txBody>
          <a:bodyPr lIns="0" tIns="0" rIns="0" bIns="0" rtlCol="0" anchor="t">
            <a:spAutoFit/>
          </a:bodyPr>
          <a:lstStyle/>
          <a:p>
            <a:pPr algn="ctr">
              <a:lnSpc>
                <a:spcPts val="8400"/>
              </a:lnSpc>
              <a:spcBef>
                <a:spcPct val="0"/>
              </a:spcBef>
            </a:pPr>
            <a:r>
              <a:rPr lang="en-US" sz="6000" b="1">
                <a:solidFill>
                  <a:srgbClr val="000000"/>
                </a:solidFill>
                <a:latin typeface="Arial MT Pro Bold"/>
                <a:ea typeface="Arial MT Pro Bold"/>
                <a:cs typeface="Arial MT Pro Bold"/>
                <a:sym typeface="Arial MT Pro Bold"/>
              </a:rPr>
              <a:t>Agradecimentos</a:t>
            </a:r>
          </a:p>
        </p:txBody>
      </p:sp>
      <p:sp>
        <p:nvSpPr>
          <p:cNvPr id="3" name="TextBox 3"/>
          <p:cNvSpPr txBox="1"/>
          <p:nvPr/>
        </p:nvSpPr>
        <p:spPr>
          <a:xfrm>
            <a:off x="17259300" y="9115425"/>
            <a:ext cx="896761" cy="6731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Arial MT Pro Bold"/>
                <a:ea typeface="Arial MT Pro Bold"/>
                <a:cs typeface="Arial MT Pro Bold"/>
                <a:sym typeface="Arial MT Pro Bold"/>
              </a:rPr>
              <a:t>22.</a:t>
            </a:r>
          </a:p>
        </p:txBody>
      </p:sp>
      <p:sp>
        <p:nvSpPr>
          <p:cNvPr id="4" name="Freeform 4"/>
          <p:cNvSpPr/>
          <p:nvPr/>
        </p:nvSpPr>
        <p:spPr>
          <a:xfrm flipV="1">
            <a:off x="9144000" y="-2683239"/>
            <a:ext cx="11850157" cy="6106829"/>
          </a:xfrm>
          <a:custGeom>
            <a:avLst/>
            <a:gdLst/>
            <a:ahLst/>
            <a:cxnLst/>
            <a:rect l="l" t="t" r="r" b="b"/>
            <a:pathLst>
              <a:path w="11850157" h="6106829">
                <a:moveTo>
                  <a:pt x="0" y="6106829"/>
                </a:moveTo>
                <a:lnTo>
                  <a:pt x="11850157" y="6106829"/>
                </a:lnTo>
                <a:lnTo>
                  <a:pt x="11850157" y="0"/>
                </a:lnTo>
                <a:lnTo>
                  <a:pt x="0" y="0"/>
                </a:lnTo>
                <a:lnTo>
                  <a:pt x="0" y="6106829"/>
                </a:lnTo>
                <a:close/>
              </a:path>
            </a:pathLst>
          </a:custGeom>
          <a:blipFill>
            <a:blip r:embed="rId2">
              <a:alphaModFix amt="24000"/>
            </a:blip>
            <a:stretch>
              <a:fillRect l="-11770" t="-157615" r="-5899" b="-148313"/>
            </a:stretch>
          </a:blipFill>
        </p:spPr>
      </p:sp>
      <p:sp>
        <p:nvSpPr>
          <p:cNvPr id="5" name="Freeform 5"/>
          <p:cNvSpPr/>
          <p:nvPr/>
        </p:nvSpPr>
        <p:spPr>
          <a:xfrm flipH="1">
            <a:off x="-2706157" y="6865595"/>
            <a:ext cx="11850157" cy="6106829"/>
          </a:xfrm>
          <a:custGeom>
            <a:avLst/>
            <a:gdLst/>
            <a:ahLst/>
            <a:cxnLst/>
            <a:rect l="l" t="t" r="r" b="b"/>
            <a:pathLst>
              <a:path w="11850157" h="6106829">
                <a:moveTo>
                  <a:pt x="11850157" y="0"/>
                </a:moveTo>
                <a:lnTo>
                  <a:pt x="0" y="0"/>
                </a:lnTo>
                <a:lnTo>
                  <a:pt x="0" y="6106829"/>
                </a:lnTo>
                <a:lnTo>
                  <a:pt x="11850157" y="6106829"/>
                </a:lnTo>
                <a:lnTo>
                  <a:pt x="11850157" y="0"/>
                </a:lnTo>
                <a:close/>
              </a:path>
            </a:pathLst>
          </a:custGeom>
          <a:blipFill>
            <a:blip r:embed="rId2">
              <a:alphaModFix amt="24000"/>
            </a:blip>
            <a:stretch>
              <a:fillRect l="-11770" t="-157615" r="-5899" b="-148313"/>
            </a:stretch>
          </a:blipFill>
        </p:spPr>
      </p:sp>
      <p:grpSp>
        <p:nvGrpSpPr>
          <p:cNvPr id="6" name="Group 6"/>
          <p:cNvGrpSpPr/>
          <p:nvPr/>
        </p:nvGrpSpPr>
        <p:grpSpPr>
          <a:xfrm>
            <a:off x="1028700" y="1263610"/>
            <a:ext cx="16230600" cy="7759781"/>
            <a:chOff x="0" y="0"/>
            <a:chExt cx="4274726" cy="2043728"/>
          </a:xfrm>
        </p:grpSpPr>
        <p:sp>
          <p:nvSpPr>
            <p:cNvPr id="7" name="Freeform 7"/>
            <p:cNvSpPr/>
            <p:nvPr/>
          </p:nvSpPr>
          <p:spPr>
            <a:xfrm>
              <a:off x="0" y="0"/>
              <a:ext cx="4274726" cy="2043728"/>
            </a:xfrm>
            <a:custGeom>
              <a:avLst/>
              <a:gdLst/>
              <a:ahLst/>
              <a:cxnLst/>
              <a:rect l="l" t="t" r="r" b="b"/>
              <a:pathLst>
                <a:path w="4274726" h="2043728">
                  <a:moveTo>
                    <a:pt x="24327" y="0"/>
                  </a:moveTo>
                  <a:lnTo>
                    <a:pt x="4250399" y="0"/>
                  </a:lnTo>
                  <a:cubicBezTo>
                    <a:pt x="4263834" y="0"/>
                    <a:pt x="4274726" y="10891"/>
                    <a:pt x="4274726" y="24327"/>
                  </a:cubicBezTo>
                  <a:lnTo>
                    <a:pt x="4274726" y="2019402"/>
                  </a:lnTo>
                  <a:cubicBezTo>
                    <a:pt x="4274726" y="2032837"/>
                    <a:pt x="4263834" y="2043728"/>
                    <a:pt x="4250399" y="2043728"/>
                  </a:cubicBezTo>
                  <a:lnTo>
                    <a:pt x="24327" y="2043728"/>
                  </a:lnTo>
                  <a:cubicBezTo>
                    <a:pt x="10891" y="2043728"/>
                    <a:pt x="0" y="2032837"/>
                    <a:pt x="0" y="2019402"/>
                  </a:cubicBezTo>
                  <a:lnTo>
                    <a:pt x="0" y="24327"/>
                  </a:lnTo>
                  <a:cubicBezTo>
                    <a:pt x="0" y="10891"/>
                    <a:pt x="10891" y="0"/>
                    <a:pt x="24327" y="0"/>
                  </a:cubicBezTo>
                  <a:close/>
                </a:path>
              </a:pathLst>
            </a:custGeom>
            <a:solidFill>
              <a:srgbClr val="454545">
                <a:alpha val="49804"/>
              </a:srgbClr>
            </a:solidFill>
          </p:spPr>
        </p:sp>
        <p:sp>
          <p:nvSpPr>
            <p:cNvPr id="8" name="TextBox 8"/>
            <p:cNvSpPr txBox="1"/>
            <p:nvPr/>
          </p:nvSpPr>
          <p:spPr>
            <a:xfrm>
              <a:off x="0" y="-95250"/>
              <a:ext cx="4274726" cy="2138978"/>
            </a:xfrm>
            <a:prstGeom prst="rect">
              <a:avLst/>
            </a:prstGeom>
          </p:spPr>
          <p:txBody>
            <a:bodyPr lIns="50800" tIns="50800" rIns="50800" bIns="50800" rtlCol="0" anchor="ctr"/>
            <a:lstStyle/>
            <a:p>
              <a:pPr algn="ctr">
                <a:lnSpc>
                  <a:spcPts val="3499"/>
                </a:lnSpc>
              </a:pPr>
              <a:endParaRPr/>
            </a:p>
          </p:txBody>
        </p:sp>
      </p:grpSp>
      <p:sp>
        <p:nvSpPr>
          <p:cNvPr id="9" name="Freeform 9"/>
          <p:cNvSpPr/>
          <p:nvPr/>
        </p:nvSpPr>
        <p:spPr>
          <a:xfrm>
            <a:off x="15589614" y="842728"/>
            <a:ext cx="2418361" cy="1249964"/>
          </a:xfrm>
          <a:custGeom>
            <a:avLst/>
            <a:gdLst/>
            <a:ahLst/>
            <a:cxnLst/>
            <a:rect l="l" t="t" r="r" b="b"/>
            <a:pathLst>
              <a:path w="2418361" h="1249964">
                <a:moveTo>
                  <a:pt x="0" y="0"/>
                </a:moveTo>
                <a:lnTo>
                  <a:pt x="2418360" y="0"/>
                </a:lnTo>
                <a:lnTo>
                  <a:pt x="2418360" y="1249964"/>
                </a:lnTo>
                <a:lnTo>
                  <a:pt x="0" y="1249964"/>
                </a:lnTo>
                <a:lnTo>
                  <a:pt x="0" y="0"/>
                </a:lnTo>
                <a:close/>
              </a:path>
            </a:pathLst>
          </a:custGeom>
          <a:blipFill>
            <a:blip r:embed="rId3"/>
            <a:stretch>
              <a:fillRect l="-11029" t="-147413" b="-134477"/>
            </a:stretch>
          </a:blipFill>
        </p:spPr>
      </p:sp>
      <p:sp>
        <p:nvSpPr>
          <p:cNvPr id="10" name="Freeform 10"/>
          <p:cNvSpPr/>
          <p:nvPr/>
        </p:nvSpPr>
        <p:spPr>
          <a:xfrm flipH="1">
            <a:off x="280026" y="8278211"/>
            <a:ext cx="2418361" cy="1249964"/>
          </a:xfrm>
          <a:custGeom>
            <a:avLst/>
            <a:gdLst/>
            <a:ahLst/>
            <a:cxnLst/>
            <a:rect l="l" t="t" r="r" b="b"/>
            <a:pathLst>
              <a:path w="2418361" h="1249964">
                <a:moveTo>
                  <a:pt x="2418360" y="0"/>
                </a:moveTo>
                <a:lnTo>
                  <a:pt x="0" y="0"/>
                </a:lnTo>
                <a:lnTo>
                  <a:pt x="0" y="1249964"/>
                </a:lnTo>
                <a:lnTo>
                  <a:pt x="2418360" y="1249964"/>
                </a:lnTo>
                <a:lnTo>
                  <a:pt x="2418360" y="0"/>
                </a:lnTo>
                <a:close/>
              </a:path>
            </a:pathLst>
          </a:custGeom>
          <a:blipFill>
            <a:blip r:embed="rId3"/>
            <a:stretch>
              <a:fillRect l="-11029" t="-147413" b="-134477"/>
            </a:stretch>
          </a:blipFill>
        </p:spPr>
      </p:sp>
      <p:sp>
        <p:nvSpPr>
          <p:cNvPr id="11" name="Freeform 11"/>
          <p:cNvSpPr/>
          <p:nvPr/>
        </p:nvSpPr>
        <p:spPr>
          <a:xfrm>
            <a:off x="2931379" y="3970976"/>
            <a:ext cx="2692924" cy="2031181"/>
          </a:xfrm>
          <a:custGeom>
            <a:avLst/>
            <a:gdLst/>
            <a:ahLst/>
            <a:cxnLst/>
            <a:rect l="l" t="t" r="r" b="b"/>
            <a:pathLst>
              <a:path w="2692924" h="2031181">
                <a:moveTo>
                  <a:pt x="0" y="0"/>
                </a:moveTo>
                <a:lnTo>
                  <a:pt x="2692924" y="0"/>
                </a:lnTo>
                <a:lnTo>
                  <a:pt x="2692924" y="2031182"/>
                </a:lnTo>
                <a:lnTo>
                  <a:pt x="0" y="2031182"/>
                </a:lnTo>
                <a:lnTo>
                  <a:pt x="0" y="0"/>
                </a:lnTo>
                <a:close/>
              </a:path>
            </a:pathLst>
          </a:custGeom>
          <a:blipFill>
            <a:blip r:embed="rId4"/>
            <a:stretch>
              <a:fillRect/>
            </a:stretch>
          </a:blipFill>
        </p:spPr>
      </p:sp>
      <p:sp>
        <p:nvSpPr>
          <p:cNvPr id="12" name="Freeform 12"/>
          <p:cNvSpPr/>
          <p:nvPr/>
        </p:nvSpPr>
        <p:spPr>
          <a:xfrm>
            <a:off x="6483071" y="4598708"/>
            <a:ext cx="3218922" cy="1403450"/>
          </a:xfrm>
          <a:custGeom>
            <a:avLst/>
            <a:gdLst/>
            <a:ahLst/>
            <a:cxnLst/>
            <a:rect l="l" t="t" r="r" b="b"/>
            <a:pathLst>
              <a:path w="3218922" h="1403450">
                <a:moveTo>
                  <a:pt x="0" y="0"/>
                </a:moveTo>
                <a:lnTo>
                  <a:pt x="3218922" y="0"/>
                </a:lnTo>
                <a:lnTo>
                  <a:pt x="3218922" y="1403450"/>
                </a:lnTo>
                <a:lnTo>
                  <a:pt x="0" y="1403450"/>
                </a:lnTo>
                <a:lnTo>
                  <a:pt x="0" y="0"/>
                </a:lnTo>
                <a:close/>
              </a:path>
            </a:pathLst>
          </a:custGeom>
          <a:blipFill>
            <a:blip r:embed="rId5"/>
            <a:stretch>
              <a:fillRect/>
            </a:stretch>
          </a:blipFill>
        </p:spPr>
      </p:sp>
      <p:sp>
        <p:nvSpPr>
          <p:cNvPr id="13" name="Freeform 13"/>
          <p:cNvSpPr/>
          <p:nvPr/>
        </p:nvSpPr>
        <p:spPr>
          <a:xfrm>
            <a:off x="10559243" y="4284842"/>
            <a:ext cx="2031181" cy="2031181"/>
          </a:xfrm>
          <a:custGeom>
            <a:avLst/>
            <a:gdLst/>
            <a:ahLst/>
            <a:cxnLst/>
            <a:rect l="l" t="t" r="r" b="b"/>
            <a:pathLst>
              <a:path w="2031181" h="2031181">
                <a:moveTo>
                  <a:pt x="0" y="0"/>
                </a:moveTo>
                <a:lnTo>
                  <a:pt x="2031181" y="0"/>
                </a:lnTo>
                <a:lnTo>
                  <a:pt x="2031181" y="2031182"/>
                </a:lnTo>
                <a:lnTo>
                  <a:pt x="0" y="2031182"/>
                </a:lnTo>
                <a:lnTo>
                  <a:pt x="0" y="0"/>
                </a:lnTo>
                <a:close/>
              </a:path>
            </a:pathLst>
          </a:custGeom>
          <a:blipFill>
            <a:blip r:embed="rId6"/>
            <a:stretch>
              <a:fillRect/>
            </a:stretch>
          </a:blipFill>
        </p:spPr>
      </p:sp>
      <p:sp>
        <p:nvSpPr>
          <p:cNvPr id="14" name="Freeform 14"/>
          <p:cNvSpPr/>
          <p:nvPr/>
        </p:nvSpPr>
        <p:spPr>
          <a:xfrm>
            <a:off x="13447674" y="4284842"/>
            <a:ext cx="1908946" cy="2031181"/>
          </a:xfrm>
          <a:custGeom>
            <a:avLst/>
            <a:gdLst/>
            <a:ahLst/>
            <a:cxnLst/>
            <a:rect l="l" t="t" r="r" b="b"/>
            <a:pathLst>
              <a:path w="1908946" h="2031181">
                <a:moveTo>
                  <a:pt x="0" y="0"/>
                </a:moveTo>
                <a:lnTo>
                  <a:pt x="1908947" y="0"/>
                </a:lnTo>
                <a:lnTo>
                  <a:pt x="1908947" y="2031182"/>
                </a:lnTo>
                <a:lnTo>
                  <a:pt x="0" y="2031182"/>
                </a:lnTo>
                <a:lnTo>
                  <a:pt x="0" y="0"/>
                </a:lnTo>
                <a:close/>
              </a:path>
            </a:pathLst>
          </a:custGeom>
          <a:blipFill>
            <a:blip r:embed="rId7"/>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Personalizar</PresentationFormat>
  <Paragraphs>0</Paragraphs>
  <Slides>22</Slides>
  <Notes>0</Notes>
  <HiddenSlides>0</HiddenSlides>
  <MMClips>0</MMClips>
  <ScaleCrop>false</ScaleCrop>
  <HeadingPairs>
    <vt:vector size="4" baseType="variant">
      <vt:variant>
        <vt:lpstr>Tema</vt:lpstr>
      </vt:variant>
      <vt:variant>
        <vt:i4>1</vt:i4>
      </vt:variant>
      <vt:variant>
        <vt:lpstr>Títulos de slides</vt:lpstr>
      </vt:variant>
      <vt:variant>
        <vt:i4>22</vt:i4>
      </vt:variant>
    </vt:vector>
  </HeadingPairs>
  <TitlesOfParts>
    <vt:vector size="23"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Mudanças acústicas e comportamentais de Podocnemis expansa perante a mudanças climáticas</dc:title>
  <cp:revision>101</cp:revision>
  <dcterms:created xsi:type="dcterms:W3CDTF">2006-08-16T00:00:00Z</dcterms:created>
  <dcterms:modified xsi:type="dcterms:W3CDTF">2026-08-20T03:27:39Z</dcterms:modified>
  <dc:identifier>DAG3F8t5uiU</dc:identifier>
</cp:coreProperties>
</file>